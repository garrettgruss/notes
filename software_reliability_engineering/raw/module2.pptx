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08" r:id="rId11"/>
    <p:sldId id="265" r:id="rId12"/>
    <p:sldId id="266" r:id="rId13"/>
    <p:sldId id="309" r:id="rId14"/>
    <p:sldId id="267" r:id="rId15"/>
    <p:sldId id="268" r:id="rId16"/>
    <p:sldId id="269" r:id="rId17"/>
    <p:sldId id="311" r:id="rId18"/>
    <p:sldId id="270" r:id="rId19"/>
    <p:sldId id="310" r:id="rId20"/>
    <p:sldId id="271" r:id="rId21"/>
    <p:sldId id="272" r:id="rId22"/>
    <p:sldId id="273" r:id="rId23"/>
    <p:sldId id="312" r:id="rId24"/>
    <p:sldId id="313" r:id="rId25"/>
    <p:sldId id="315" r:id="rId26"/>
    <p:sldId id="316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9" r:id="rId42"/>
    <p:sldId id="288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14" r:id="rId60"/>
    <p:sldId id="306" r:id="rId61"/>
    <p:sldId id="307" r:id="rId6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2" autoAdjust="0"/>
    <p:restoredTop sz="94648" autoAdjust="0"/>
  </p:normalViewPr>
  <p:slideViewPr>
    <p:cSldViewPr>
      <p:cViewPr>
        <p:scale>
          <a:sx n="110" d="100"/>
          <a:sy n="110" d="100"/>
        </p:scale>
        <p:origin x="1938" y="-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769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A7B2E2-AF7F-4703-AAE0-262A0FDF8BC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31938-889A-4A56-82B6-883936EDE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0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05800" cy="792162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05800" cy="4906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sciencedirect.com/science/article/pii/0026271478911393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hyperlink" Target="https://investigationsquality.com/2025/04/10/cause-consequence-analysis-cca-a-powerful-tool-for-risk-assessment/" TargetMode="Externa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685800" y="1219200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/>
              <a:t>Software Reliability and Safety 	</a:t>
            </a:r>
            <a:br>
              <a:rPr lang="en-US" dirty="0"/>
            </a:br>
            <a:r>
              <a:rPr lang="en-US" dirty="0"/>
              <a:t>CS 8317 – Spring 2026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990600" y="3886200"/>
            <a:ext cx="6781800" cy="1752600"/>
          </a:xfrm>
        </p:spPr>
        <p:txBody>
          <a:bodyPr>
            <a:normAutofit/>
          </a:bodyPr>
          <a:lstStyle/>
          <a:p>
            <a:r>
              <a:rPr lang="en-US" sz="2400" dirty="0"/>
              <a:t>Module 2:</a:t>
            </a:r>
          </a:p>
          <a:p>
            <a:r>
              <a:rPr lang="en-US" sz="2400" dirty="0"/>
              <a:t>Tree Based Reliability Models &amp; Integrated SRE/Hazard Analysis</a:t>
            </a:r>
          </a:p>
        </p:txBody>
      </p:sp>
    </p:spTree>
    <p:extLst>
      <p:ext uri="{BB962C8B-B14F-4D97-AF65-F5344CB8AC3E}">
        <p14:creationId xmlns:p14="http://schemas.microsoft.com/office/powerpoint/2010/main" val="122728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38F8-BF3B-1D69-375F-B411424D8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48396-ACB9-7B00-78C8-58258C410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Deliverables</a:t>
            </a:r>
          </a:p>
          <a:p>
            <a:pPr lvl="1"/>
            <a:r>
              <a:rPr lang="en-US" dirty="0"/>
              <a:t>Assignment 1 due today</a:t>
            </a:r>
          </a:p>
          <a:p>
            <a:pPr lvl="1"/>
            <a:r>
              <a:rPr lang="en-US" dirty="0"/>
              <a:t>Assignment 2 due next week</a:t>
            </a:r>
          </a:p>
          <a:p>
            <a:r>
              <a:rPr lang="en-US" dirty="0"/>
              <a:t>Environment and needs </a:t>
            </a:r>
          </a:p>
          <a:p>
            <a:r>
              <a:rPr lang="en-US" dirty="0"/>
              <a:t>Background: Existing approaches </a:t>
            </a:r>
          </a:p>
          <a:p>
            <a:r>
              <a:rPr lang="en-US" dirty="0"/>
              <a:t>TBRMs: Tree-based reliability Models</a:t>
            </a:r>
          </a:p>
          <a:p>
            <a:r>
              <a:rPr lang="en-US" dirty="0"/>
              <a:t>Integrated SRE using TBRMs &amp; others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820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0F45B-41F4-CC3B-4D46-FF53FEA92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6CA5B-BD28-CD0B-63AC-DCD883685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Reliability: Problem/failure-free operations </a:t>
            </a:r>
          </a:p>
          <a:p>
            <a:pPr lvl="1"/>
            <a:r>
              <a:rPr lang="en-US" dirty="0"/>
              <a:t>Time domain: for a specific period. </a:t>
            </a:r>
          </a:p>
          <a:p>
            <a:pPr lvl="2"/>
            <a:r>
              <a:rPr lang="en-US" dirty="0"/>
              <a:t>Reliability growth models. </a:t>
            </a:r>
          </a:p>
          <a:p>
            <a:pPr lvl="1"/>
            <a:r>
              <a:rPr lang="en-US" dirty="0"/>
              <a:t>Input domain: for a specific input set. </a:t>
            </a:r>
          </a:p>
          <a:p>
            <a:pPr lvl="2"/>
            <a:r>
              <a:rPr lang="en-US" dirty="0"/>
              <a:t>Repeated sampling models. </a:t>
            </a:r>
          </a:p>
          <a:p>
            <a:r>
              <a:rPr lang="en-US" dirty="0"/>
              <a:t>A new integrated approach: TBRMs </a:t>
            </a:r>
          </a:p>
          <a:p>
            <a:pPr lvl="1"/>
            <a:r>
              <a:rPr lang="en-US" dirty="0"/>
              <a:t>Tree-based reliability models (TBRMs) </a:t>
            </a:r>
          </a:p>
          <a:p>
            <a:pPr lvl="1"/>
            <a:r>
              <a:rPr lang="en-US" dirty="0"/>
              <a:t>Both input/time domain information. </a:t>
            </a:r>
          </a:p>
          <a:p>
            <a:pPr lvl="1"/>
            <a:r>
              <a:rPr lang="en-US" dirty="0"/>
              <a:t>Data driven/sensitive partitions. </a:t>
            </a:r>
          </a:p>
          <a:p>
            <a:pPr lvl="1"/>
            <a:r>
              <a:rPr lang="en-US" dirty="0"/>
              <a:t>Risk focusing and remedial actions. </a:t>
            </a:r>
          </a:p>
          <a:p>
            <a:pPr lvl="1"/>
            <a:r>
              <a:rPr lang="en-US" dirty="0"/>
              <a:t>Details: SRE2 j7tbrm.pdf (Tian 1995), </a:t>
            </a:r>
          </a:p>
          <a:p>
            <a:pPr lvl="2"/>
            <a:r>
              <a:rPr lang="en-US" dirty="0"/>
              <a:t>SRE2_3_b1sreAIC.pdf (Tian 1998) with more background</a:t>
            </a:r>
          </a:p>
        </p:txBody>
      </p:sp>
    </p:spTree>
    <p:extLst>
      <p:ext uri="{BB962C8B-B14F-4D97-AF65-F5344CB8AC3E}">
        <p14:creationId xmlns:p14="http://schemas.microsoft.com/office/powerpoint/2010/main" val="3185938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3C272-82ED-B407-BDC7-1438BA8A5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305800" cy="792162"/>
          </a:xfrm>
        </p:spPr>
        <p:txBody>
          <a:bodyPr/>
          <a:lstStyle/>
          <a:p>
            <a:r>
              <a:rPr lang="en-US" dirty="0"/>
              <a:t>Product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AEA07-143A-2CB6-8D37-092B326DC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305800" cy="53340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Large (medium-reliable) products: </a:t>
            </a:r>
          </a:p>
          <a:p>
            <a:pPr lvl="1"/>
            <a:r>
              <a:rPr lang="en-US" dirty="0"/>
              <a:t>Commercial: Compilers, software tools and computing environments. </a:t>
            </a:r>
          </a:p>
          <a:p>
            <a:pPr lvl="1"/>
            <a:r>
              <a:rPr lang="en-US" dirty="0"/>
              <a:t>Telecommunication products too. </a:t>
            </a:r>
          </a:p>
          <a:p>
            <a:pPr lvl="1"/>
            <a:r>
              <a:rPr lang="en-US" dirty="0"/>
              <a:t>Size: Up to millions of LOC. </a:t>
            </a:r>
          </a:p>
          <a:p>
            <a:pPr lvl="1"/>
            <a:r>
              <a:rPr lang="en-US" dirty="0"/>
              <a:t>Widely distributed/large user population. </a:t>
            </a:r>
          </a:p>
          <a:p>
            <a:pPr lvl="1"/>
            <a:r>
              <a:rPr lang="en-US" dirty="0"/>
              <a:t>No precise operational profile. </a:t>
            </a:r>
          </a:p>
          <a:p>
            <a:pPr lvl="1"/>
            <a:r>
              <a:rPr lang="en-US" dirty="0"/>
              <a:t>Process: roughly waterfall. </a:t>
            </a:r>
          </a:p>
          <a:p>
            <a:r>
              <a:rPr lang="en-US" dirty="0"/>
              <a:t>Overall testing: </a:t>
            </a:r>
          </a:p>
          <a:p>
            <a:pPr lvl="1"/>
            <a:r>
              <a:rPr lang="en-US" dirty="0"/>
              <a:t>Long testing period (2 ∼ 18 months). </a:t>
            </a:r>
          </a:p>
          <a:p>
            <a:pPr lvl="1"/>
            <a:r>
              <a:rPr lang="en-US" dirty="0"/>
              <a:t>Different testing sub-phases. </a:t>
            </a:r>
          </a:p>
          <a:p>
            <a:pPr lvl="1"/>
            <a:r>
              <a:rPr lang="en-US" dirty="0"/>
              <a:t>System testing focuses on reliability. </a:t>
            </a:r>
          </a:p>
          <a:p>
            <a:pPr lvl="1"/>
            <a:r>
              <a:rPr lang="en-US" dirty="0"/>
              <a:t>Test-until-it-breaks commonly used. </a:t>
            </a:r>
          </a:p>
          <a:p>
            <a:pPr lvl="1"/>
            <a:r>
              <a:rPr lang="en-US" dirty="0"/>
              <a:t>Staffing level variations. </a:t>
            </a:r>
          </a:p>
          <a:p>
            <a:pPr lvl="1"/>
            <a:r>
              <a:rPr lang="en-US" dirty="0"/>
              <a:t>Code base stability</a:t>
            </a:r>
          </a:p>
        </p:txBody>
      </p:sp>
    </p:spTree>
    <p:extLst>
      <p:ext uri="{BB962C8B-B14F-4D97-AF65-F5344CB8AC3E}">
        <p14:creationId xmlns:p14="http://schemas.microsoft.com/office/powerpoint/2010/main" val="4166764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8FB47-4D2F-BDA2-F218-1412778FB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"/>
            <a:ext cx="8305800" cy="792162"/>
          </a:xfrm>
        </p:spPr>
        <p:txBody>
          <a:bodyPr/>
          <a:lstStyle/>
          <a:p>
            <a:r>
              <a:rPr lang="en-US" dirty="0"/>
              <a:t>Testing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80BEC-3730-5484-D547-F7F24F095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4400"/>
            <a:ext cx="8382000" cy="5791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Scenario-based testing. </a:t>
            </a:r>
          </a:p>
          <a:p>
            <a:pPr lvl="1"/>
            <a:r>
              <a:rPr lang="en-US" dirty="0"/>
              <a:t>Shifting focus: learning/dependency. </a:t>
            </a:r>
          </a:p>
          <a:p>
            <a:pPr lvl="1"/>
            <a:r>
              <a:rPr lang="en-US" dirty="0"/>
              <a:t>Functionality-based scenario classes:</a:t>
            </a:r>
          </a:p>
          <a:p>
            <a:pPr lvl="2"/>
            <a:r>
              <a:rPr lang="en-US" dirty="0"/>
              <a:t>Randomized workload</a:t>
            </a:r>
          </a:p>
          <a:p>
            <a:pPr lvl="2"/>
            <a:r>
              <a:rPr lang="en-US" dirty="0"/>
              <a:t>Progression: complexity &amp; intensity increases</a:t>
            </a:r>
          </a:p>
          <a:p>
            <a:pPr lvl="2"/>
            <a:r>
              <a:rPr lang="en-US" dirty="0"/>
              <a:t>Defect fixing and related runs</a:t>
            </a:r>
          </a:p>
          <a:p>
            <a:pPr lvl="2"/>
            <a:r>
              <a:rPr lang="en-US" dirty="0"/>
              <a:t>Division among testers. </a:t>
            </a:r>
          </a:p>
          <a:p>
            <a:r>
              <a:rPr lang="en-US" dirty="0"/>
              <a:t>Specific reliability analysis issues: </a:t>
            </a:r>
          </a:p>
          <a:p>
            <a:pPr lvl="1"/>
            <a:r>
              <a:rPr lang="en-US" dirty="0"/>
              <a:t>Scenario-based ∼ random testing</a:t>
            </a:r>
          </a:p>
          <a:p>
            <a:pPr lvl="2"/>
            <a:r>
              <a:rPr lang="en-US" dirty="0"/>
              <a:t>Due to parallelism and interleaving </a:t>
            </a:r>
          </a:p>
          <a:p>
            <a:pPr lvl="1"/>
            <a:r>
              <a:rPr lang="en-US" dirty="0"/>
              <a:t>Defect fixing effect:</a:t>
            </a:r>
          </a:p>
          <a:p>
            <a:pPr lvl="2"/>
            <a:r>
              <a:rPr lang="en-US" dirty="0"/>
              <a:t>No long-term dependency</a:t>
            </a:r>
          </a:p>
          <a:p>
            <a:pPr lvl="2"/>
            <a:r>
              <a:rPr lang="en-US" dirty="0"/>
              <a:t>Short-term dependency will need grouping. Discussed later </a:t>
            </a:r>
          </a:p>
          <a:p>
            <a:pPr lvl="1"/>
            <a:r>
              <a:rPr lang="en-US" dirty="0"/>
              <a:t>Uneven faults;  TBRMs</a:t>
            </a:r>
          </a:p>
        </p:txBody>
      </p:sp>
    </p:spTree>
    <p:extLst>
      <p:ext uri="{BB962C8B-B14F-4D97-AF65-F5344CB8AC3E}">
        <p14:creationId xmlns:p14="http://schemas.microsoft.com/office/powerpoint/2010/main" val="830776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38267-73BD-1DB4-53F6-53A9AE268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Needs and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86A10-D1B1-BC60-6231-C0D211705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Need assessment and analysis: </a:t>
            </a:r>
          </a:p>
          <a:p>
            <a:pPr lvl="1"/>
            <a:r>
              <a:rPr lang="en-US" dirty="0"/>
              <a:t>Track test effort, progress and defect. </a:t>
            </a:r>
          </a:p>
          <a:p>
            <a:pPr lvl="1"/>
            <a:r>
              <a:rPr lang="en-US" dirty="0"/>
              <a:t>Reliability assessment and prediction. </a:t>
            </a:r>
          </a:p>
          <a:p>
            <a:pPr lvl="1"/>
            <a:r>
              <a:rPr lang="en-US" dirty="0"/>
              <a:t>Effective defect detection and removal. </a:t>
            </a:r>
          </a:p>
          <a:p>
            <a:pPr lvl="1"/>
            <a:r>
              <a:rPr lang="en-US" dirty="0"/>
              <a:t>Process and quality improvement. </a:t>
            </a:r>
          </a:p>
          <a:p>
            <a:r>
              <a:rPr lang="en-US" dirty="0"/>
              <a:t>Environmental constraints: </a:t>
            </a:r>
          </a:p>
          <a:p>
            <a:pPr lvl="1"/>
            <a:r>
              <a:rPr lang="en-US" dirty="0"/>
              <a:t>Minimize cost &amp; schedule risks. </a:t>
            </a:r>
          </a:p>
          <a:p>
            <a:pPr lvl="1"/>
            <a:r>
              <a:rPr lang="en-US" dirty="0"/>
              <a:t>Data availability and affordability. </a:t>
            </a:r>
          </a:p>
          <a:p>
            <a:pPr lvl="1"/>
            <a:r>
              <a:rPr lang="en-US" dirty="0"/>
              <a:t>Process refinement. </a:t>
            </a:r>
          </a:p>
          <a:p>
            <a:pPr lvl="1"/>
            <a:r>
              <a:rPr lang="en-US" dirty="0"/>
              <a:t>Maximize data utilization. </a:t>
            </a:r>
          </a:p>
        </p:txBody>
      </p:sp>
    </p:spTree>
    <p:extLst>
      <p:ext uri="{BB962C8B-B14F-4D97-AF65-F5344CB8AC3E}">
        <p14:creationId xmlns:p14="http://schemas.microsoft.com/office/powerpoint/2010/main" val="3639063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54685-3CB3-29EA-B051-18220C9BD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305800" cy="792162"/>
          </a:xfrm>
        </p:spPr>
        <p:txBody>
          <a:bodyPr/>
          <a:lstStyle/>
          <a:p>
            <a:r>
              <a:rPr lang="en-US" dirty="0"/>
              <a:t>Overall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351CD-5D09-FCBD-C43A-DCF86E696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75518"/>
            <a:ext cx="8305800" cy="565388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Combine SRGMs and IDRMs into TBRMs. </a:t>
            </a:r>
          </a:p>
          <a:p>
            <a:r>
              <a:rPr lang="en-US" dirty="0"/>
              <a:t>Analysis and control: </a:t>
            </a:r>
          </a:p>
          <a:p>
            <a:pPr lvl="1"/>
            <a:r>
              <a:rPr lang="en-US" dirty="0"/>
              <a:t>SRGMs </a:t>
            </a:r>
          </a:p>
          <a:p>
            <a:pPr lvl="1"/>
            <a:r>
              <a:rPr lang="en-US" dirty="0"/>
              <a:t>TBRMs: tree-based reliability models. </a:t>
            </a:r>
          </a:p>
          <a:p>
            <a:pPr lvl="1"/>
            <a:r>
              <a:rPr lang="en-US" dirty="0"/>
              <a:t>Progress monitoring &amp; exit criteria. </a:t>
            </a:r>
          </a:p>
          <a:p>
            <a:r>
              <a:rPr lang="en-US" dirty="0"/>
              <a:t>Problem identification and correction: </a:t>
            </a:r>
          </a:p>
          <a:p>
            <a:pPr lvl="1"/>
            <a:r>
              <a:rPr lang="en-US" dirty="0"/>
              <a:t>Use of input domain information</a:t>
            </a:r>
          </a:p>
          <a:p>
            <a:pPr lvl="2"/>
            <a:r>
              <a:rPr lang="en-US" dirty="0"/>
              <a:t>IDRMs (input domain reliability models)</a:t>
            </a:r>
          </a:p>
          <a:p>
            <a:pPr lvl="2"/>
            <a:r>
              <a:rPr lang="en-US" dirty="0"/>
              <a:t>Identify high risk areas </a:t>
            </a:r>
          </a:p>
          <a:p>
            <a:pPr lvl="1"/>
            <a:r>
              <a:rPr lang="en-US" dirty="0"/>
              <a:t>Automatic partitioning via TBRMs. </a:t>
            </a:r>
          </a:p>
          <a:p>
            <a:pPr lvl="1"/>
            <a:r>
              <a:rPr lang="en-US" dirty="0"/>
              <a:t>Remedial actions for improvement.</a:t>
            </a:r>
          </a:p>
        </p:txBody>
      </p:sp>
    </p:spTree>
    <p:extLst>
      <p:ext uri="{BB962C8B-B14F-4D97-AF65-F5344CB8AC3E}">
        <p14:creationId xmlns:p14="http://schemas.microsoft.com/office/powerpoint/2010/main" val="643878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62401-1778-1221-FCE8-5070A2EE5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305800" cy="792162"/>
          </a:xfrm>
        </p:spPr>
        <p:txBody>
          <a:bodyPr/>
          <a:lstStyle/>
          <a:p>
            <a:r>
              <a:rPr lang="en-US" dirty="0"/>
              <a:t>Solution: Coverage &amp;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78F8F-D5B0-A01F-C597-0B691FB76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75518"/>
            <a:ext cx="8305800" cy="565388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Product coverage: </a:t>
            </a:r>
          </a:p>
          <a:p>
            <a:pPr lvl="1"/>
            <a:r>
              <a:rPr lang="en-US" dirty="0"/>
              <a:t>Commercial products from IBM. </a:t>
            </a:r>
          </a:p>
          <a:p>
            <a:pPr lvl="1"/>
            <a:r>
              <a:rPr lang="en-US" dirty="0"/>
              <a:t>Improvement over original process. </a:t>
            </a:r>
          </a:p>
          <a:p>
            <a:pPr lvl="1"/>
            <a:r>
              <a:rPr lang="en-US" dirty="0"/>
              <a:t>Evolutionary approach: </a:t>
            </a:r>
          </a:p>
          <a:p>
            <a:pPr lvl="2"/>
            <a:r>
              <a:rPr lang="en-US" dirty="0"/>
              <a:t>Individual techniques. </a:t>
            </a:r>
          </a:p>
          <a:p>
            <a:pPr lvl="2"/>
            <a:r>
              <a:rPr lang="en-US" dirty="0"/>
              <a:t>Integration and refinement. </a:t>
            </a:r>
          </a:p>
          <a:p>
            <a:r>
              <a:rPr lang="en-US" dirty="0"/>
              <a:t>Scope of Engagement: </a:t>
            </a:r>
          </a:p>
          <a:p>
            <a:pPr lvl="1"/>
            <a:r>
              <a:rPr lang="en-US" dirty="0"/>
              <a:t>Data definition and collection. </a:t>
            </a:r>
          </a:p>
          <a:p>
            <a:pPr lvl="1"/>
            <a:r>
              <a:rPr lang="en-US" dirty="0"/>
              <a:t>Data visualization and analysis. </a:t>
            </a:r>
          </a:p>
          <a:p>
            <a:pPr lvl="1"/>
            <a:r>
              <a:rPr lang="en-US" dirty="0"/>
              <a:t>Test progress tracking. </a:t>
            </a:r>
          </a:p>
          <a:p>
            <a:pPr lvl="1"/>
            <a:r>
              <a:rPr lang="en-US" dirty="0"/>
              <a:t>Reliability tracking with SRGMs. </a:t>
            </a:r>
          </a:p>
          <a:p>
            <a:pPr lvl="1"/>
            <a:r>
              <a:rPr lang="en-US" dirty="0"/>
              <a:t>Reliability improvement with TBRMs.</a:t>
            </a:r>
          </a:p>
        </p:txBody>
      </p:sp>
    </p:spTree>
    <p:extLst>
      <p:ext uri="{BB962C8B-B14F-4D97-AF65-F5344CB8AC3E}">
        <p14:creationId xmlns:p14="http://schemas.microsoft.com/office/powerpoint/2010/main" val="1751285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4E172-A07C-2E3F-5C90-71E82AD59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76200"/>
            <a:ext cx="8305800" cy="792162"/>
          </a:xfrm>
        </p:spPr>
        <p:txBody>
          <a:bodyPr/>
          <a:lstStyle/>
          <a:p>
            <a:r>
              <a:rPr lang="en-US" dirty="0"/>
              <a:t>Data: UBST &amp;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2066A-2D51-342F-BA08-9794A5844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975518"/>
            <a:ext cx="8362950" cy="5653882"/>
          </a:xfrm>
        </p:spPr>
        <p:txBody>
          <a:bodyPr>
            <a:normAutofit fontScale="92500"/>
          </a:bodyPr>
          <a:lstStyle/>
          <a:p>
            <a:r>
              <a:rPr lang="en-US" dirty="0"/>
              <a:t>Data and tracking: </a:t>
            </a:r>
          </a:p>
          <a:p>
            <a:pPr lvl="1"/>
            <a:r>
              <a:rPr lang="en-US" dirty="0"/>
              <a:t>Integration with schedule information. </a:t>
            </a:r>
          </a:p>
          <a:p>
            <a:pPr lvl="1"/>
            <a:r>
              <a:rPr lang="en-US" dirty="0"/>
              <a:t>Normalization effect. </a:t>
            </a:r>
          </a:p>
          <a:p>
            <a:pPr lvl="1"/>
            <a:r>
              <a:rPr lang="en-US" dirty="0"/>
              <a:t>Summary reports and visualization. </a:t>
            </a:r>
          </a:p>
          <a:p>
            <a:pPr lvl="1"/>
            <a:r>
              <a:rPr lang="en-US" dirty="0"/>
              <a:t>Consistency checking automation. </a:t>
            </a:r>
          </a:p>
          <a:p>
            <a:r>
              <a:rPr lang="en-US" dirty="0"/>
              <a:t>Customer usage information gathering</a:t>
            </a:r>
          </a:p>
          <a:p>
            <a:pPr lvl="1"/>
            <a:r>
              <a:rPr lang="en-US" dirty="0"/>
              <a:t>Operational profile construction. </a:t>
            </a:r>
          </a:p>
          <a:p>
            <a:r>
              <a:rPr lang="en-US" dirty="0"/>
              <a:t>Coverage and input-domain analysis: </a:t>
            </a:r>
          </a:p>
          <a:p>
            <a:pPr lvl="1"/>
            <a:r>
              <a:rPr lang="en-US" dirty="0"/>
              <a:t>Functionality/function/static/dynamic. </a:t>
            </a:r>
          </a:p>
          <a:p>
            <a:pPr lvl="1"/>
            <a:r>
              <a:rPr lang="en-US" dirty="0"/>
              <a:t>Different levels of coverage for different testing phases. </a:t>
            </a:r>
          </a:p>
          <a:p>
            <a:pPr lvl="1"/>
            <a:r>
              <a:rPr lang="en-US" dirty="0"/>
              <a:t>Focused coverage through TBRM.</a:t>
            </a:r>
          </a:p>
        </p:txBody>
      </p:sp>
    </p:spTree>
    <p:extLst>
      <p:ext uri="{BB962C8B-B14F-4D97-AF65-F5344CB8AC3E}">
        <p14:creationId xmlns:p14="http://schemas.microsoft.com/office/powerpoint/2010/main" val="3775315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E9029-FDF9-9F3D-F200-44FC232471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57200" y="76200"/>
            <a:ext cx="8229600" cy="778440"/>
          </a:xfrm>
        </p:spPr>
        <p:txBody>
          <a:bodyPr/>
          <a:lstStyle/>
          <a:p>
            <a:r>
              <a:rPr lang="en-US" dirty="0"/>
              <a:t>Software Reliability Growth Model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7D00B2-F413-F8C2-69E1-98EEB7FA9D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"/>
          </p:nvPr>
        </p:nvSpPr>
        <p:spPr>
          <a:xfrm>
            <a:off x="381000" y="990600"/>
            <a:ext cx="8382000" cy="2666999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24292F"/>
                </a:solidFill>
                <a:latin typeface="-apple-system"/>
              </a:rPr>
              <a:t>Shape can either take a concave or S-shape </a:t>
            </a:r>
          </a:p>
          <a:p>
            <a:r>
              <a:rPr lang="en-US" dirty="0">
                <a:solidFill>
                  <a:srgbClr val="24292F"/>
                </a:solidFill>
                <a:latin typeface="-apple-system"/>
              </a:rPr>
              <a:t>Use cumulative defects over time </a:t>
            </a:r>
          </a:p>
          <a:p>
            <a:r>
              <a:rPr lang="en-US" dirty="0">
                <a:solidFill>
                  <a:srgbClr val="24292F"/>
                </a:solidFill>
                <a:latin typeface="-apple-system"/>
              </a:rPr>
              <a:t>Measuring test time:</a:t>
            </a:r>
          </a:p>
          <a:p>
            <a:pPr lvl="1"/>
            <a:r>
              <a:rPr lang="en-US" dirty="0">
                <a:solidFill>
                  <a:srgbClr val="24292F"/>
                </a:solidFill>
                <a:latin typeface="-apple-system"/>
              </a:rPr>
              <a:t>Calendar time, example months</a:t>
            </a:r>
          </a:p>
          <a:p>
            <a:pPr lvl="1"/>
            <a:r>
              <a:rPr lang="en-US" dirty="0">
                <a:solidFill>
                  <a:srgbClr val="24292F"/>
                </a:solidFill>
                <a:latin typeface="-apple-system"/>
              </a:rPr>
              <a:t>Number of test runs</a:t>
            </a:r>
          </a:p>
          <a:p>
            <a:pPr lvl="1"/>
            <a:r>
              <a:rPr lang="en-US" dirty="0">
                <a:solidFill>
                  <a:srgbClr val="24292F"/>
                </a:solidFill>
                <a:latin typeface="-apple-system"/>
              </a:rPr>
              <a:t>Execution time, example CPU time, transactions etc.</a:t>
            </a:r>
          </a:p>
          <a:p>
            <a:pPr lvl="1"/>
            <a:endParaRPr lang="en-US" dirty="0">
              <a:solidFill>
                <a:srgbClr val="24292F"/>
              </a:solidFill>
              <a:latin typeface="-apple-system"/>
            </a:endParaRPr>
          </a:p>
          <a:p>
            <a:pPr lvl="1"/>
            <a:endParaRPr lang="en-US" dirty="0">
              <a:solidFill>
                <a:srgbClr val="24292F"/>
              </a:solidFill>
              <a:latin typeface="-apple-system"/>
            </a:endParaRPr>
          </a:p>
          <a:p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6EC4626-B3C4-570C-AFFD-D44F3939E98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657599"/>
            <a:ext cx="7581900" cy="2999048"/>
          </a:xfrm>
        </p:spPr>
      </p:pic>
    </p:spTree>
    <p:extLst>
      <p:ext uri="{BB962C8B-B14F-4D97-AF65-F5344CB8AC3E}">
        <p14:creationId xmlns:p14="http://schemas.microsoft.com/office/powerpoint/2010/main" val="3762391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40769-E831-C5B3-F907-5D6C7B75E1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57200" y="76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Experience: SRGMs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1DF49-7A42-878A-2E48-2DA2549467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"/>
          </p:nvPr>
        </p:nvSpPr>
        <p:spPr>
          <a:xfrm>
            <a:off x="857250" y="6097088"/>
            <a:ext cx="7524750" cy="61456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Time measurements: Fig.2 (Tian 1998)</a:t>
            </a:r>
          </a:p>
          <a:p>
            <a:pPr lvl="1"/>
            <a:r>
              <a:rPr lang="en-US" dirty="0"/>
              <a:t>Product E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CD7A67A-A15B-FD7E-1D90-5EA264C97F8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0" y="734850"/>
            <a:ext cx="7239000" cy="5304544"/>
          </a:xfrm>
        </p:spPr>
      </p:pic>
    </p:spTree>
    <p:extLst>
      <p:ext uri="{BB962C8B-B14F-4D97-AF65-F5344CB8AC3E}">
        <p14:creationId xmlns:p14="http://schemas.microsoft.com/office/powerpoint/2010/main" val="455385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3B564-1B5B-FEA2-78BE-8AF800D9C3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57200" y="152400"/>
            <a:ext cx="8229600" cy="868362"/>
          </a:xfrm>
        </p:spPr>
        <p:txBody>
          <a:bodyPr/>
          <a:lstStyle/>
          <a:p>
            <a:r>
              <a:rPr lang="en-US" dirty="0"/>
              <a:t>Experience: SRGMs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E07C5-83F7-5136-8201-00A7A2E190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"/>
          </p:nvPr>
        </p:nvSpPr>
        <p:spPr>
          <a:xfrm>
            <a:off x="533400" y="1020762"/>
            <a:ext cx="7772400" cy="1417638"/>
          </a:xfrm>
        </p:spPr>
        <p:txBody>
          <a:bodyPr/>
          <a:lstStyle/>
          <a:p>
            <a:r>
              <a:rPr lang="en-US" dirty="0"/>
              <a:t>Model applicability and effectiveness: </a:t>
            </a:r>
          </a:p>
          <a:p>
            <a:pPr lvl="1"/>
            <a:r>
              <a:rPr lang="en-US" dirty="0"/>
              <a:t>Calendar time models useless. </a:t>
            </a:r>
          </a:p>
          <a:p>
            <a:pPr lvl="1"/>
            <a:r>
              <a:rPr lang="en-US" dirty="0"/>
              <a:t>Products A, B, and C: Fig.3 (Tian 1998)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A554650-6AF5-8577-2EF0-D7B7A52B41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365733"/>
            <a:ext cx="6096000" cy="4339867"/>
          </a:xfrm>
        </p:spPr>
      </p:pic>
    </p:spTree>
    <p:extLst>
      <p:ext uri="{BB962C8B-B14F-4D97-AF65-F5344CB8AC3E}">
        <p14:creationId xmlns:p14="http://schemas.microsoft.com/office/powerpoint/2010/main" val="2847358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1FB96-8A6E-E653-468A-2F0CBB4C3C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57200" y="38100"/>
            <a:ext cx="8229600" cy="762000"/>
          </a:xfrm>
        </p:spPr>
        <p:txBody>
          <a:bodyPr/>
          <a:lstStyle/>
          <a:p>
            <a:r>
              <a:rPr lang="en-US" dirty="0"/>
              <a:t>Experience: SRGMs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DC482-35F4-C2EA-DAFC-A940A74F4C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"/>
          </p:nvPr>
        </p:nvSpPr>
        <p:spPr>
          <a:xfrm>
            <a:off x="685800" y="992096"/>
            <a:ext cx="7315200" cy="11430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Model applicability and effectiveness:</a:t>
            </a:r>
          </a:p>
          <a:p>
            <a:pPr lvl="1"/>
            <a:r>
              <a:rPr lang="en-US" dirty="0"/>
              <a:t>Calendar time Fig. 3 (Abuta-Tian 2018)</a:t>
            </a:r>
          </a:p>
          <a:p>
            <a:pPr lvl="2"/>
            <a:r>
              <a:rPr lang="en-US" dirty="0"/>
              <a:t>SRE4_j36oedSRE.pdf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4201BBB-2AD1-ECEC-E222-AA0D5664D56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081516"/>
            <a:ext cx="6019800" cy="4738384"/>
          </a:xfrm>
        </p:spPr>
      </p:pic>
    </p:spTree>
    <p:extLst>
      <p:ext uri="{BB962C8B-B14F-4D97-AF65-F5344CB8AC3E}">
        <p14:creationId xmlns:p14="http://schemas.microsoft.com/office/powerpoint/2010/main" val="3542154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153C9-81C3-F6BF-4F40-239CAC7BB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62000"/>
          </a:xfrm>
        </p:spPr>
        <p:txBody>
          <a:bodyPr/>
          <a:lstStyle/>
          <a:p>
            <a:r>
              <a:rPr lang="en-US" dirty="0"/>
              <a:t>Experience: SRGMs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5AD25-6564-E869-204F-9A30AD434E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"/>
          </p:nvPr>
        </p:nvSpPr>
        <p:spPr>
          <a:xfrm>
            <a:off x="457200" y="990600"/>
            <a:ext cx="6819900" cy="17526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Model applicability and effectiveness: </a:t>
            </a:r>
          </a:p>
          <a:p>
            <a:pPr lvl="1"/>
            <a:r>
              <a:rPr lang="en-US" dirty="0"/>
              <a:t>Execution time models costly &amp; sensitive. </a:t>
            </a:r>
          </a:p>
          <a:p>
            <a:pPr lvl="1"/>
            <a:r>
              <a:rPr lang="en-US" dirty="0"/>
              <a:t>Product B Fig.6b (Tian 1998)</a:t>
            </a:r>
          </a:p>
          <a:p>
            <a:pPr lvl="2"/>
            <a:r>
              <a:rPr lang="en-US" dirty="0"/>
              <a:t>Geo – Moranda’s geometric de-eutrophication model</a:t>
            </a:r>
          </a:p>
          <a:p>
            <a:pPr lvl="2"/>
            <a:r>
              <a:rPr lang="en-US" dirty="0"/>
              <a:t>Musa – Musa’s basic execution time model</a:t>
            </a:r>
          </a:p>
          <a:p>
            <a:pPr lvl="2"/>
            <a:r>
              <a:rPr lang="en-US" dirty="0"/>
              <a:t>Musa-Okumoto – logarithmic Poisson execution time model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41A2C22-5845-A79C-CF80-203C1E1FB5D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660433"/>
            <a:ext cx="5410200" cy="4197567"/>
          </a:xfrm>
        </p:spPr>
      </p:pic>
    </p:spTree>
    <p:extLst>
      <p:ext uri="{BB962C8B-B14F-4D97-AF65-F5344CB8AC3E}">
        <p14:creationId xmlns:p14="http://schemas.microsoft.com/office/powerpoint/2010/main" val="3370418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BEA14-721C-C966-5C41-A79433B18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52400"/>
            <a:ext cx="8229600" cy="792162"/>
          </a:xfrm>
        </p:spPr>
        <p:txBody>
          <a:bodyPr/>
          <a:lstStyle/>
          <a:p>
            <a:r>
              <a:rPr lang="en-US" dirty="0"/>
              <a:t>Experience: SRGMs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F050C-EE26-0BE1-A11C-96B3822342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"/>
          </p:nvPr>
        </p:nvSpPr>
        <p:spPr>
          <a:xfrm>
            <a:off x="533399" y="1002410"/>
            <a:ext cx="8077199" cy="157718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Model applicability and effectiveness: </a:t>
            </a:r>
          </a:p>
          <a:p>
            <a:pPr lvl="1"/>
            <a:r>
              <a:rPr lang="en-US" dirty="0"/>
              <a:t>Runs suitable for some products. </a:t>
            </a:r>
          </a:p>
          <a:p>
            <a:pPr lvl="1"/>
            <a:r>
              <a:rPr lang="en-US" dirty="0"/>
              <a:t>Product B: Fig.6a (Tian 1998)</a:t>
            </a:r>
          </a:p>
          <a:p>
            <a:pPr lvl="2"/>
            <a:r>
              <a:rPr lang="en-US" dirty="0"/>
              <a:t>LV – Littlewood-</a:t>
            </a:r>
            <a:r>
              <a:rPr lang="en-US" dirty="0" err="1"/>
              <a:t>Varrel</a:t>
            </a:r>
            <a:r>
              <a:rPr lang="en-US" dirty="0"/>
              <a:t> Bayesian model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E8514F6-017B-889E-4677-F077249680E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480" y="2579593"/>
            <a:ext cx="5539619" cy="4106958"/>
          </a:xfrm>
        </p:spPr>
      </p:pic>
    </p:spTree>
    <p:extLst>
      <p:ext uri="{BB962C8B-B14F-4D97-AF65-F5344CB8AC3E}">
        <p14:creationId xmlns:p14="http://schemas.microsoft.com/office/powerpoint/2010/main" val="2994681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72367-08BF-2708-A069-C14455E4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Experience: SRGMs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384A7-B794-70A0-63E1-9E953C82A9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"/>
          </p:nvPr>
        </p:nvSpPr>
        <p:spPr>
          <a:xfrm>
            <a:off x="457200" y="1013619"/>
            <a:ext cx="7924800" cy="142478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Model applicability and effectiveness: </a:t>
            </a:r>
          </a:p>
          <a:p>
            <a:pPr lvl="1"/>
            <a:r>
              <a:rPr lang="en-US" dirty="0"/>
              <a:t>Runs suitable for some products. </a:t>
            </a:r>
          </a:p>
          <a:p>
            <a:pPr lvl="1"/>
            <a:r>
              <a:rPr lang="en-US" dirty="0"/>
              <a:t>Product D: Fig.8a (Tian 1998)</a:t>
            </a:r>
          </a:p>
          <a:p>
            <a:pPr lvl="2"/>
            <a:r>
              <a:rPr lang="en-US" dirty="0"/>
              <a:t>S: Yamada-</a:t>
            </a:r>
            <a:r>
              <a:rPr lang="en-US" dirty="0" err="1"/>
              <a:t>Ohba</a:t>
            </a:r>
            <a:r>
              <a:rPr lang="en-US" dirty="0"/>
              <a:t>-Osaki S-shaped non-homogeneous Poisson process (NHPP) model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757B4D0-E0F8-9213-05D9-6866918CC1B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2676" y="2286000"/>
            <a:ext cx="5738648" cy="4267199"/>
          </a:xfrm>
        </p:spPr>
      </p:pic>
    </p:spTree>
    <p:extLst>
      <p:ext uri="{BB962C8B-B14F-4D97-AF65-F5344CB8AC3E}">
        <p14:creationId xmlns:p14="http://schemas.microsoft.com/office/powerpoint/2010/main" val="402286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D8EE5-F00B-6E83-1069-B894AF88EA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65909" y="7620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Experience: SRGMs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D15C6-DA60-4144-864D-3DED2DCFFF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"/>
          </p:nvPr>
        </p:nvSpPr>
        <p:spPr>
          <a:xfrm>
            <a:off x="465909" y="685800"/>
            <a:ext cx="7149798" cy="1355172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Non-Homogenous Poison Process (NHPP) models</a:t>
            </a:r>
          </a:p>
          <a:p>
            <a:pPr marL="685800" lvl="1"/>
            <a:r>
              <a:rPr lang="en-US" dirty="0"/>
              <a:t>Concave – Goel-Okumoto</a:t>
            </a:r>
          </a:p>
          <a:p>
            <a:pPr marL="685800" lvl="1"/>
            <a:r>
              <a:rPr lang="en-US" dirty="0"/>
              <a:t>S-Shape – Yamada</a:t>
            </a:r>
          </a:p>
          <a:p>
            <a:pPr marL="685800" lvl="1"/>
            <a:r>
              <a:rPr lang="en-US" dirty="0">
                <a:sym typeface="Wingdings" panose="05000000000000000000" pitchFamily="2" charset="2"/>
              </a:rPr>
              <a:t>Musa-Okumoto </a:t>
            </a:r>
          </a:p>
          <a:p>
            <a:pPr marL="1085850" lvl="2"/>
            <a:r>
              <a:rPr lang="en-US" dirty="0"/>
              <a:t>Another variation on NHPP </a:t>
            </a:r>
            <a:r>
              <a:rPr lang="en-US" dirty="0">
                <a:sym typeface="Wingdings" panose="05000000000000000000" pitchFamily="2" charset="2"/>
              </a:rPr>
              <a:t> logarithmic execution</a:t>
            </a:r>
          </a:p>
          <a:p>
            <a:pPr marL="685800" lvl="1"/>
            <a:r>
              <a:rPr lang="en-US" dirty="0"/>
              <a:t>Fig. 12 (Abuta-Tian 2018)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011ABED-BC75-A1BA-DD2E-06AD3A46DF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948961"/>
            <a:ext cx="6167907" cy="4849130"/>
          </a:xfrm>
        </p:spPr>
      </p:pic>
    </p:spTree>
    <p:extLst>
      <p:ext uri="{BB962C8B-B14F-4D97-AF65-F5344CB8AC3E}">
        <p14:creationId xmlns:p14="http://schemas.microsoft.com/office/powerpoint/2010/main" val="2552154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770F0-D23F-25A1-6F00-1CFBE1AE5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838200"/>
          </a:xfrm>
        </p:spPr>
        <p:txBody>
          <a:bodyPr/>
          <a:lstStyle/>
          <a:p>
            <a:r>
              <a:rPr lang="en-US" dirty="0"/>
              <a:t>Experience: SRGMs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0F3B5-23E6-19C6-65B6-5C304DC292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"/>
          </p:nvPr>
        </p:nvSpPr>
        <p:spPr>
          <a:xfrm>
            <a:off x="990600" y="1066800"/>
            <a:ext cx="7162800" cy="16002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Model applicability and effectiveness: </a:t>
            </a:r>
          </a:p>
          <a:p>
            <a:pPr lvl="1"/>
            <a:r>
              <a:rPr lang="en-US" dirty="0"/>
              <a:t>Runs suitable some products. </a:t>
            </a:r>
          </a:p>
          <a:p>
            <a:pPr lvl="1"/>
            <a:r>
              <a:rPr lang="en-US" dirty="0"/>
              <a:t>Product D: Fig.8b (Tian 1998)</a:t>
            </a:r>
          </a:p>
          <a:p>
            <a:pPr lvl="2"/>
            <a:r>
              <a:rPr lang="en-US" dirty="0"/>
              <a:t>Failure intensity data (rate data)</a:t>
            </a:r>
          </a:p>
          <a:p>
            <a:pPr lvl="2"/>
            <a:r>
              <a:rPr lang="en-US" dirty="0"/>
              <a:t>GO: Goel-Okumoto NHPP model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3DBC23B-56E9-98C7-EAF7-38D4B92D4DE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002" y="2590800"/>
            <a:ext cx="5613996" cy="4151127"/>
          </a:xfrm>
        </p:spPr>
      </p:pic>
    </p:spTree>
    <p:extLst>
      <p:ext uri="{BB962C8B-B14F-4D97-AF65-F5344CB8AC3E}">
        <p14:creationId xmlns:p14="http://schemas.microsoft.com/office/powerpoint/2010/main" val="6168888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9FC10-2B2B-1BBF-9BFF-6F1E09221A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57200" y="47754"/>
            <a:ext cx="8229600" cy="762000"/>
          </a:xfrm>
        </p:spPr>
        <p:txBody>
          <a:bodyPr/>
          <a:lstStyle/>
          <a:p>
            <a:r>
              <a:rPr lang="en-US" dirty="0"/>
              <a:t>Experience: SRGMs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2D6B9-EBCC-84E0-DB57-E40C62F517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"/>
          </p:nvPr>
        </p:nvSpPr>
        <p:spPr>
          <a:xfrm>
            <a:off x="609600" y="914400"/>
            <a:ext cx="7467600" cy="978668"/>
          </a:xfrm>
        </p:spPr>
        <p:txBody>
          <a:bodyPr>
            <a:normAutofit/>
          </a:bodyPr>
          <a:lstStyle/>
          <a:p>
            <a:r>
              <a:rPr lang="en-US" dirty="0"/>
              <a:t>Model applicability and effectiveness: </a:t>
            </a:r>
          </a:p>
          <a:p>
            <a:pPr lvl="1"/>
            <a:r>
              <a:rPr lang="en-US" dirty="0"/>
              <a:t>Failure intensity – Fig. 7 (Abuta-Tian 2018)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07379CF-511E-1708-B7C4-F39A0A17781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199" y="1997714"/>
            <a:ext cx="6197602" cy="4860286"/>
          </a:xfrm>
        </p:spPr>
      </p:pic>
    </p:spTree>
    <p:extLst>
      <p:ext uri="{BB962C8B-B14F-4D97-AF65-F5344CB8AC3E}">
        <p14:creationId xmlns:p14="http://schemas.microsoft.com/office/powerpoint/2010/main" val="11085284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2F663-393F-D090-96E5-CBB7E4A72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92162"/>
          </a:xfrm>
        </p:spPr>
        <p:txBody>
          <a:bodyPr/>
          <a:lstStyle/>
          <a:p>
            <a:r>
              <a:rPr lang="en-US" dirty="0"/>
              <a:t>Experience: SRGMs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8739D-0344-D1F9-51B8-FDCBF2B605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"/>
          </p:nvPr>
        </p:nvSpPr>
        <p:spPr>
          <a:xfrm>
            <a:off x="533400" y="944562"/>
            <a:ext cx="7924800" cy="1805782"/>
          </a:xfrm>
        </p:spPr>
        <p:txBody>
          <a:bodyPr/>
          <a:lstStyle/>
          <a:p>
            <a:r>
              <a:rPr lang="en-US" dirty="0"/>
              <a:t>Model applicability and effectiveness: </a:t>
            </a:r>
          </a:p>
          <a:p>
            <a:pPr lvl="1"/>
            <a:r>
              <a:rPr lang="en-US" dirty="0"/>
              <a:t>Transactions for other products. </a:t>
            </a:r>
          </a:p>
          <a:p>
            <a:pPr lvl="1"/>
            <a:r>
              <a:rPr lang="en-US" dirty="0"/>
              <a:t>Product E: Fig.9 (Tian 1998)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47937D1-4D17-4488-BE78-7A90E65C05D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448" y="2362200"/>
            <a:ext cx="5787104" cy="4191000"/>
          </a:xfrm>
        </p:spPr>
      </p:pic>
    </p:spTree>
    <p:extLst>
      <p:ext uri="{BB962C8B-B14F-4D97-AF65-F5344CB8AC3E}">
        <p14:creationId xmlns:p14="http://schemas.microsoft.com/office/powerpoint/2010/main" val="16255416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75A89-8F93-269F-EE3C-C24727ED7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68362"/>
          </a:xfrm>
        </p:spPr>
        <p:txBody>
          <a:bodyPr/>
          <a:lstStyle/>
          <a:p>
            <a:r>
              <a:rPr lang="en-US" dirty="0"/>
              <a:t>Experience: SRGMs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714A2-2EED-1F0B-C5DF-1726EF779E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"/>
          </p:nvPr>
        </p:nvSpPr>
        <p:spPr>
          <a:xfrm>
            <a:off x="609600" y="1083865"/>
            <a:ext cx="7562850" cy="1577182"/>
          </a:xfrm>
        </p:spPr>
        <p:txBody>
          <a:bodyPr/>
          <a:lstStyle/>
          <a:p>
            <a:r>
              <a:rPr lang="en-US" dirty="0"/>
              <a:t>Model applicability and effectiveness: </a:t>
            </a:r>
          </a:p>
          <a:p>
            <a:pPr lvl="1"/>
            <a:r>
              <a:rPr lang="en-US" dirty="0"/>
              <a:t>Time measurement comparison </a:t>
            </a:r>
          </a:p>
          <a:p>
            <a:pPr lvl="1"/>
            <a:r>
              <a:rPr lang="en-US" dirty="0"/>
              <a:t>Product E: Fig.5 (Tian 1998)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21CB2E4-57A6-E8BF-0E9B-A497D0CCEEF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133" y="2578458"/>
            <a:ext cx="5593734" cy="4127142"/>
          </a:xfrm>
        </p:spPr>
      </p:pic>
    </p:spTree>
    <p:extLst>
      <p:ext uri="{BB962C8B-B14F-4D97-AF65-F5344CB8AC3E}">
        <p14:creationId xmlns:p14="http://schemas.microsoft.com/office/powerpoint/2010/main" val="2424709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91883-2C2E-CD41-DA8B-E63C3B286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Experience: SRGMs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576B7-E913-3B2B-E0D0-401A937CE7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"/>
          </p:nvPr>
        </p:nvSpPr>
        <p:spPr>
          <a:xfrm>
            <a:off x="762000" y="883552"/>
            <a:ext cx="8001000" cy="170724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Model applicability and effectiveness: </a:t>
            </a:r>
          </a:p>
          <a:p>
            <a:pPr lvl="1"/>
            <a:r>
              <a:rPr lang="en-US" dirty="0"/>
              <a:t>Context sensitive modeling for sub-groups or sub-phases ⇒ TBRMs.  </a:t>
            </a:r>
          </a:p>
          <a:p>
            <a:pPr lvl="1"/>
            <a:r>
              <a:rPr lang="en-US" dirty="0"/>
              <a:t>product B: Fig.7 (Tian 1998)</a:t>
            </a:r>
          </a:p>
          <a:p>
            <a:pPr lvl="2"/>
            <a:r>
              <a:rPr lang="en-US" dirty="0"/>
              <a:t>Groups 1,3, and 4: Failure interval data </a:t>
            </a:r>
          </a:p>
          <a:p>
            <a:pPr lvl="2"/>
            <a:r>
              <a:rPr lang="en-US" dirty="0"/>
              <a:t>Groups 1 and 3 : Execution time-based failure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B888724-E603-C1DC-41B7-2D9901CBC7E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675" y="2534490"/>
            <a:ext cx="5800725" cy="4247310"/>
          </a:xfrm>
        </p:spPr>
      </p:pic>
    </p:spTree>
    <p:extLst>
      <p:ext uri="{BB962C8B-B14F-4D97-AF65-F5344CB8AC3E}">
        <p14:creationId xmlns:p14="http://schemas.microsoft.com/office/powerpoint/2010/main" val="1011964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E37F49E-A2DC-4A6A-7176-8E75CFE5E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Operational Reliability Assessment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C197C5-CF70-AB4A-B2D2-2A73C8841E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457200" y="1219200"/>
            <a:ext cx="8305800" cy="5486400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24292F"/>
                </a:solidFill>
                <a:latin typeface="-apple-system"/>
              </a:rPr>
              <a:t>System's reliability snapshot during operation</a:t>
            </a:r>
          </a:p>
          <a:p>
            <a:pPr lvl="1"/>
            <a:r>
              <a:rPr lang="en-US" dirty="0">
                <a:solidFill>
                  <a:srgbClr val="24292F"/>
                </a:solidFill>
                <a:latin typeface="-apple-system"/>
              </a:rPr>
              <a:t>Failure rate stability/operational stability</a:t>
            </a:r>
          </a:p>
          <a:p>
            <a:r>
              <a:rPr lang="en-US" dirty="0"/>
              <a:t>Use </a:t>
            </a:r>
            <a:r>
              <a:rPr lang="en-US" dirty="0">
                <a:solidFill>
                  <a:srgbClr val="24292F"/>
                </a:solidFill>
                <a:latin typeface="-apple-system"/>
              </a:rPr>
              <a:t>Input Domain Reliability Model (IDRM)</a:t>
            </a:r>
          </a:p>
          <a:p>
            <a:pPr lvl="1"/>
            <a:r>
              <a:rPr lang="en-US" dirty="0">
                <a:solidFill>
                  <a:srgbClr val="24292F"/>
                </a:solidFill>
                <a:latin typeface="-apple-system"/>
              </a:rPr>
              <a:t>Nelson model (</a:t>
            </a:r>
            <a:r>
              <a:rPr lang="en-US" dirty="0">
                <a:latin typeface="-apple-system"/>
                <a:hlinkClick r:id="rId2"/>
              </a:rPr>
              <a:t>Nelson, 1978</a:t>
            </a:r>
            <a:r>
              <a:rPr lang="en-US" dirty="0">
                <a:solidFill>
                  <a:srgbClr val="24292F"/>
                </a:solidFill>
                <a:latin typeface="-apple-system"/>
              </a:rPr>
              <a:t>)</a:t>
            </a:r>
          </a:p>
          <a:p>
            <a:pPr lvl="1"/>
            <a:r>
              <a:rPr lang="en-US" dirty="0">
                <a:solidFill>
                  <a:srgbClr val="24292F"/>
                </a:solidFill>
                <a:latin typeface="-apple-system"/>
              </a:rPr>
              <a:t>Estimate's reliability (R) for different time segments as:</a:t>
            </a:r>
          </a:p>
          <a:p>
            <a:pPr lvl="1"/>
            <a:endParaRPr lang="en-US" dirty="0">
              <a:solidFill>
                <a:srgbClr val="24292F"/>
              </a:solidFill>
              <a:latin typeface="-apple-system"/>
            </a:endParaRPr>
          </a:p>
          <a:p>
            <a:pPr lvl="1"/>
            <a:endParaRPr lang="en-US" dirty="0">
              <a:solidFill>
                <a:srgbClr val="24292F"/>
              </a:solidFill>
              <a:latin typeface="-apple-system"/>
            </a:endParaRPr>
          </a:p>
          <a:p>
            <a:pPr lvl="2"/>
            <a:r>
              <a:rPr lang="en-US" dirty="0">
                <a:solidFill>
                  <a:srgbClr val="24292F"/>
                </a:solidFill>
                <a:latin typeface="-apple-system"/>
                <a:cs typeface="Times New Roman" panose="02020603050405020304" pitchFamily="18" charset="0"/>
              </a:rPr>
              <a:t>ƒ – number of failures</a:t>
            </a:r>
          </a:p>
          <a:p>
            <a:pPr lvl="2"/>
            <a:r>
              <a:rPr lang="el-GR" dirty="0">
                <a:solidFill>
                  <a:srgbClr val="2429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dirty="0">
                <a:solidFill>
                  <a:srgbClr val="24292F"/>
                </a:solidFill>
                <a:latin typeface="-apple-system"/>
                <a:cs typeface="Times New Roman" panose="02020603050405020304" pitchFamily="18" charset="0"/>
              </a:rPr>
              <a:t> – failure rate</a:t>
            </a:r>
          </a:p>
          <a:p>
            <a:pPr lvl="2"/>
            <a:r>
              <a:rPr lang="en-US" dirty="0">
                <a:solidFill>
                  <a:srgbClr val="2429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solidFill>
                  <a:srgbClr val="24292F"/>
                </a:solidFill>
                <a:latin typeface="-apple-system"/>
                <a:cs typeface="Times New Roman" panose="02020603050405020304" pitchFamily="18" charset="0"/>
              </a:rPr>
              <a:t> – number of runs</a:t>
            </a:r>
            <a:endParaRPr lang="en-US" dirty="0">
              <a:solidFill>
                <a:srgbClr val="24292F"/>
              </a:solidFill>
              <a:latin typeface="-apple-system"/>
            </a:endParaRPr>
          </a:p>
          <a:p>
            <a:r>
              <a:rPr lang="en-US" dirty="0">
                <a:solidFill>
                  <a:srgbClr val="24292F"/>
                </a:solidFill>
                <a:latin typeface="-apple-system"/>
              </a:rPr>
              <a:t>Stable period</a:t>
            </a:r>
          </a:p>
          <a:p>
            <a:pPr lvl="1"/>
            <a:r>
              <a:rPr lang="en-US" dirty="0">
                <a:solidFill>
                  <a:srgbClr val="24292F"/>
                </a:solidFill>
                <a:latin typeface="-apple-system"/>
              </a:rPr>
              <a:t>Individual rate falls 15% with the stable period s to N </a:t>
            </a:r>
            <a:r>
              <a:rPr lang="en-US" dirty="0"/>
              <a:t>(Abuta-Tian 2018)</a:t>
            </a:r>
            <a:r>
              <a:rPr lang="en-US" dirty="0">
                <a:solidFill>
                  <a:srgbClr val="24292F"/>
                </a:solidFill>
                <a:latin typeface="-apple-system"/>
              </a:rPr>
              <a:t> 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7FFF59-D561-21A5-C141-E7B4B5470A4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3200400"/>
            <a:ext cx="4048690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2186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F39983-8A21-B73B-77BD-E099559A78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57200" y="26125"/>
            <a:ext cx="8077200" cy="896589"/>
          </a:xfrm>
        </p:spPr>
        <p:txBody>
          <a:bodyPr/>
          <a:lstStyle/>
          <a:p>
            <a:r>
              <a:rPr lang="en-US" dirty="0"/>
              <a:t>Operational Reliability Assessment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FC4976-A773-D75F-DDF8-14B8BD806F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"/>
          </p:nvPr>
        </p:nvSpPr>
        <p:spPr>
          <a:xfrm>
            <a:off x="533400" y="922715"/>
            <a:ext cx="8305800" cy="75368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Model applicability and effectiveness:</a:t>
            </a:r>
          </a:p>
          <a:p>
            <a:pPr lvl="1"/>
            <a:r>
              <a:rPr lang="en-US" dirty="0"/>
              <a:t>Fig. 8 (Abuta-Tian 2018)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58FC96C-EB87-F793-86A3-7681E9F5794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170" y="1752600"/>
            <a:ext cx="6099259" cy="4788960"/>
          </a:xfr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365891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CBC97-1EE2-3E24-438B-E6371BCC1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Other: Trend Test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C4804C2-095E-93DB-325C-F65FB043E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305800" cy="5257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Analyze reliability of a system, using defects</a:t>
            </a:r>
          </a:p>
          <a:p>
            <a:pPr lvl="1"/>
            <a:r>
              <a:rPr lang="en-US" dirty="0"/>
              <a:t>Uniquely counted defects</a:t>
            </a:r>
          </a:p>
          <a:p>
            <a:pPr lvl="1"/>
            <a:r>
              <a:rPr lang="en-US" dirty="0"/>
              <a:t>Set at an interval (Month)</a:t>
            </a:r>
          </a:p>
          <a:p>
            <a:r>
              <a:rPr lang="en-US" dirty="0"/>
              <a:t>Use Laplace trend test, were Laplace factor:</a:t>
            </a:r>
          </a:p>
          <a:p>
            <a:pPr lvl="1"/>
            <a:r>
              <a:rPr lang="en-US" dirty="0"/>
              <a:t>Negative - decreasing failure intensity </a:t>
            </a:r>
          </a:p>
          <a:p>
            <a:pPr lvl="2"/>
            <a:r>
              <a:rPr lang="en-US" dirty="0"/>
              <a:t>Implies reliability growth </a:t>
            </a:r>
          </a:p>
          <a:p>
            <a:pPr lvl="2"/>
            <a:r>
              <a:rPr lang="en-US" dirty="0">
                <a:solidFill>
                  <a:srgbClr val="24292F"/>
                </a:solidFill>
                <a:latin typeface="-apple-system"/>
              </a:rPr>
              <a:t>Most defects have been found</a:t>
            </a:r>
          </a:p>
          <a:p>
            <a:pPr lvl="1"/>
            <a:r>
              <a:rPr lang="en-US" dirty="0">
                <a:solidFill>
                  <a:srgbClr val="24292F"/>
                </a:solidFill>
                <a:latin typeface="-apple-system"/>
              </a:rPr>
              <a:t>Positive - increased failure intensity</a:t>
            </a:r>
          </a:p>
          <a:p>
            <a:pPr lvl="2"/>
            <a:r>
              <a:rPr lang="en-US" dirty="0">
                <a:solidFill>
                  <a:srgbClr val="24292F"/>
                </a:solidFill>
                <a:latin typeface="-apple-system"/>
              </a:rPr>
              <a:t>Implies reliability decay</a:t>
            </a:r>
          </a:p>
          <a:p>
            <a:r>
              <a:rPr lang="en-US" dirty="0">
                <a:solidFill>
                  <a:srgbClr val="24292F"/>
                </a:solidFill>
                <a:latin typeface="-apple-system"/>
              </a:rPr>
              <a:t>Trend not established for region between</a:t>
            </a:r>
          </a:p>
          <a:p>
            <a:pPr lvl="1"/>
            <a:r>
              <a:rPr lang="en-US" dirty="0">
                <a:solidFill>
                  <a:srgbClr val="24292F"/>
                </a:solidFill>
                <a:latin typeface="-apple-system"/>
              </a:rPr>
              <a:t>Reliability decay </a:t>
            </a:r>
          </a:p>
          <a:p>
            <a:pPr lvl="1"/>
            <a:r>
              <a:rPr lang="en-US" dirty="0">
                <a:solidFill>
                  <a:srgbClr val="24292F"/>
                </a:solidFill>
                <a:latin typeface="-apple-system"/>
              </a:rPr>
              <a:t>Reliability growth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9246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635E4-9F6E-A2D9-A127-7D0C4E421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211" y="3048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Other: Trend Test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38E3A-5D70-4ECA-5766-298634D24F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"/>
          </p:nvPr>
        </p:nvSpPr>
        <p:spPr>
          <a:xfrm>
            <a:off x="559525" y="731202"/>
            <a:ext cx="8153400" cy="114549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Model applicability and effectiveness:</a:t>
            </a:r>
          </a:p>
          <a:p>
            <a:pPr lvl="1"/>
            <a:r>
              <a:rPr lang="en-US" dirty="0"/>
              <a:t>Gives a better view of defect distribution</a:t>
            </a:r>
          </a:p>
          <a:p>
            <a:pPr lvl="1"/>
            <a:r>
              <a:rPr lang="en-US" dirty="0"/>
              <a:t>Demonstrated Reliability growth</a:t>
            </a:r>
          </a:p>
          <a:p>
            <a:pPr lvl="1"/>
            <a:r>
              <a:rPr lang="en-US" dirty="0"/>
              <a:t>Fig. 5 (Abuta-Tian 2018)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D656101-2C77-BFB3-C4DF-29BD2198A7E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43" y="1913709"/>
            <a:ext cx="6083914" cy="4833257"/>
          </a:xfrm>
        </p:spPr>
      </p:pic>
    </p:spTree>
    <p:extLst>
      <p:ext uri="{BB962C8B-B14F-4D97-AF65-F5344CB8AC3E}">
        <p14:creationId xmlns:p14="http://schemas.microsoft.com/office/powerpoint/2010/main" val="32533819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33EA923-A48A-1DDA-3B75-F6DF13344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Experience: SRGM Conclusions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7D32D5-067D-F954-49CB-F6B2C9F8F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610600" cy="54864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Modeling result interpretation: </a:t>
            </a:r>
          </a:p>
          <a:p>
            <a:pPr lvl="1"/>
            <a:r>
              <a:rPr lang="en-US" dirty="0"/>
              <a:t>Accuracy of models:</a:t>
            </a:r>
          </a:p>
          <a:p>
            <a:pPr lvl="2"/>
            <a:r>
              <a:rPr lang="en-US" dirty="0"/>
              <a:t>Assessment, model goodness-of-fit.</a:t>
            </a:r>
          </a:p>
          <a:p>
            <a:pPr lvl="2"/>
            <a:r>
              <a:rPr lang="en-US" dirty="0"/>
              <a:t>Prediction: training &amp; testing sets </a:t>
            </a:r>
          </a:p>
          <a:p>
            <a:pPr lvl="1"/>
            <a:r>
              <a:rPr lang="en-US" dirty="0"/>
              <a:t>Product purity at exit. </a:t>
            </a:r>
          </a:p>
          <a:p>
            <a:pPr lvl="1"/>
            <a:r>
              <a:rPr lang="en-US" dirty="0"/>
              <a:t>Bounded estimations: multiple models. </a:t>
            </a:r>
          </a:p>
          <a:p>
            <a:pPr lvl="1"/>
            <a:r>
              <a:rPr lang="en-US" dirty="0"/>
              <a:t>Convergence of modeling results. </a:t>
            </a:r>
          </a:p>
          <a:p>
            <a:r>
              <a:rPr lang="en-US" dirty="0"/>
              <a:t>Evolving to usage-based data/model: </a:t>
            </a:r>
          </a:p>
          <a:p>
            <a:pPr lvl="1"/>
            <a:r>
              <a:rPr lang="en-US" dirty="0"/>
              <a:t>Assurance of homogeneity:</a:t>
            </a:r>
          </a:p>
          <a:p>
            <a:pPr lvl="2"/>
            <a:r>
              <a:rPr lang="en-US" dirty="0"/>
              <a:t>Homogeneous – constant fault detection rater per fault</a:t>
            </a:r>
          </a:p>
          <a:p>
            <a:pPr lvl="2"/>
            <a:r>
              <a:rPr lang="en-US" dirty="0"/>
              <a:t>If ‘yes’, run-based data/model;</a:t>
            </a:r>
          </a:p>
          <a:p>
            <a:pPr lvl="2"/>
            <a:r>
              <a:rPr lang="en-US" dirty="0"/>
              <a:t>If ‘no’, transaction measurement. </a:t>
            </a:r>
          </a:p>
          <a:p>
            <a:pPr lvl="1"/>
            <a:r>
              <a:rPr lang="en-US" dirty="0"/>
              <a:t>Suitable for input domain analysis. </a:t>
            </a:r>
          </a:p>
          <a:p>
            <a:pPr lvl="1"/>
            <a:r>
              <a:rPr lang="en-US" dirty="0"/>
              <a:t>Also, as cross validation for TBRMs.</a:t>
            </a:r>
          </a:p>
        </p:txBody>
      </p:sp>
    </p:spTree>
    <p:extLst>
      <p:ext uri="{BB962C8B-B14F-4D97-AF65-F5344CB8AC3E}">
        <p14:creationId xmlns:p14="http://schemas.microsoft.com/office/powerpoint/2010/main" val="41214433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43E22-3BE1-4028-B77E-F888DC1F3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305800" cy="792162"/>
          </a:xfrm>
        </p:spPr>
        <p:txBody>
          <a:bodyPr/>
          <a:lstStyle/>
          <a:p>
            <a:r>
              <a:rPr lang="en-US" dirty="0"/>
              <a:t>Assessing Existing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B6B2A-B589-9943-2D7D-AABFAF505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4400"/>
            <a:ext cx="8382000" cy="5638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Time domain reliability analysis: </a:t>
            </a:r>
          </a:p>
          <a:p>
            <a:pPr lvl="1"/>
            <a:r>
              <a:rPr lang="en-US" dirty="0"/>
              <a:t>Customer perspective. </a:t>
            </a:r>
          </a:p>
          <a:p>
            <a:pPr lvl="1"/>
            <a:r>
              <a:rPr lang="en-US" dirty="0"/>
              <a:t>Overall assessment and prediction. </a:t>
            </a:r>
          </a:p>
          <a:p>
            <a:pPr lvl="1"/>
            <a:r>
              <a:rPr lang="en-US" dirty="0"/>
              <a:t>Ability to track reliability change. </a:t>
            </a:r>
          </a:p>
          <a:p>
            <a:pPr lvl="1"/>
            <a:r>
              <a:rPr lang="en-US" dirty="0"/>
              <a:t>Problem: how to improve reliability? </a:t>
            </a:r>
          </a:p>
          <a:p>
            <a:r>
              <a:rPr lang="en-US" dirty="0"/>
              <a:t>Input domain reliability analysis: </a:t>
            </a:r>
          </a:p>
          <a:p>
            <a:pPr lvl="1"/>
            <a:r>
              <a:rPr lang="en-US" dirty="0"/>
              <a:t>Explicit operational profile. </a:t>
            </a:r>
          </a:p>
          <a:p>
            <a:pPr lvl="1"/>
            <a:r>
              <a:rPr lang="en-US" dirty="0"/>
              <a:t>Better input state definition. </a:t>
            </a:r>
          </a:p>
          <a:p>
            <a:pPr lvl="1"/>
            <a:r>
              <a:rPr lang="en-US" dirty="0"/>
              <a:t>Hard to handle change/evolution. </a:t>
            </a:r>
          </a:p>
          <a:p>
            <a:pPr lvl="1"/>
            <a:r>
              <a:rPr lang="en-US" dirty="0"/>
              <a:t>Problem: realistic reliability assessment and handling numerous data sets/partitions?</a:t>
            </a:r>
          </a:p>
        </p:txBody>
      </p:sp>
    </p:spTree>
    <p:extLst>
      <p:ext uri="{BB962C8B-B14F-4D97-AF65-F5344CB8AC3E}">
        <p14:creationId xmlns:p14="http://schemas.microsoft.com/office/powerpoint/2010/main" val="5159344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5BA9E-0DE4-E735-B198-435EBBA32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"/>
            <a:ext cx="8305800" cy="792162"/>
          </a:xfrm>
        </p:spPr>
        <p:txBody>
          <a:bodyPr/>
          <a:lstStyle/>
          <a:p>
            <a:r>
              <a:rPr lang="en-US" dirty="0"/>
              <a:t>An Integrated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4D882-813C-EF4A-F79E-5B6BAB960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58837"/>
            <a:ext cx="8267700" cy="58467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Combine strengths of the two. </a:t>
            </a:r>
          </a:p>
          <a:p>
            <a:r>
              <a:rPr lang="en-US" dirty="0"/>
              <a:t>Using TBRM for individual modeling: </a:t>
            </a:r>
          </a:p>
          <a:p>
            <a:pPr lvl="1"/>
            <a:r>
              <a:rPr lang="en-US" dirty="0"/>
              <a:t>Input state: categorical information. </a:t>
            </a:r>
          </a:p>
          <a:p>
            <a:pPr lvl="1"/>
            <a:r>
              <a:rPr lang="en-US" dirty="0"/>
              <a:t>Each run as a data point. </a:t>
            </a:r>
          </a:p>
          <a:p>
            <a:pPr lvl="1"/>
            <a:r>
              <a:rPr lang="en-US" dirty="0"/>
              <a:t>Time cutoff for partitions too. </a:t>
            </a:r>
          </a:p>
          <a:p>
            <a:pPr lvl="1"/>
            <a:r>
              <a:rPr lang="en-US" dirty="0"/>
              <a:t>Data sensitive partitioning </a:t>
            </a:r>
          </a:p>
          <a:p>
            <a:pPr lvl="2"/>
            <a:r>
              <a:rPr lang="en-US" dirty="0"/>
              <a:t>Nelson models for subsets. </a:t>
            </a:r>
          </a:p>
          <a:p>
            <a:r>
              <a:rPr lang="en-US" dirty="0"/>
              <a:t>Integrated reliability analyses: </a:t>
            </a:r>
          </a:p>
          <a:p>
            <a:pPr lvl="1"/>
            <a:r>
              <a:rPr lang="en-US" dirty="0"/>
              <a:t>TBRM: partitioned subset reliability. </a:t>
            </a:r>
          </a:p>
          <a:p>
            <a:pPr lvl="1"/>
            <a:r>
              <a:rPr lang="en-US" dirty="0"/>
              <a:t>Use both input and timing information. </a:t>
            </a:r>
          </a:p>
          <a:p>
            <a:pPr lvl="1"/>
            <a:r>
              <a:rPr lang="en-US" dirty="0"/>
              <a:t>Monitoring changes in trees. </a:t>
            </a:r>
          </a:p>
          <a:p>
            <a:pPr lvl="1"/>
            <a:r>
              <a:rPr lang="en-US" dirty="0"/>
              <a:t>Enhanced exit criteria. </a:t>
            </a:r>
          </a:p>
          <a:p>
            <a:pPr lvl="1"/>
            <a:r>
              <a:rPr lang="en-US" dirty="0"/>
              <a:t>SRGM: overall reliability near exit. </a:t>
            </a:r>
          </a:p>
          <a:p>
            <a:pPr lvl="1"/>
            <a:r>
              <a:rPr lang="en-US" dirty="0"/>
              <a:t>Integrate into the testing process.</a:t>
            </a:r>
          </a:p>
        </p:txBody>
      </p:sp>
    </p:spTree>
    <p:extLst>
      <p:ext uri="{BB962C8B-B14F-4D97-AF65-F5344CB8AC3E}">
        <p14:creationId xmlns:p14="http://schemas.microsoft.com/office/powerpoint/2010/main" val="28932699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5CBCA-51EE-2273-1EC1-929844711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305800" cy="792162"/>
          </a:xfrm>
        </p:spPr>
        <p:txBody>
          <a:bodyPr/>
          <a:lstStyle/>
          <a:p>
            <a:r>
              <a:rPr lang="en-US" dirty="0"/>
              <a:t>TBM: Technique for Integration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62A77-E811-843E-F04F-89646049A5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944562"/>
                <a:ext cx="8382000" cy="563880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Basic ideas: </a:t>
                </a:r>
              </a:p>
              <a:p>
                <a:pPr lvl="1"/>
                <a:r>
                  <a:rPr lang="en-US" dirty="0"/>
                  <a:t>TBM: tree-based models. </a:t>
                </a:r>
              </a:p>
              <a:p>
                <a:pPr lvl="1"/>
                <a:r>
                  <a:rPr lang="en-US" dirty="0"/>
                  <a:t>Tree: nodes=data-set, edges=decision. </a:t>
                </a:r>
              </a:p>
              <a:p>
                <a:pPr lvl="1"/>
                <a:r>
                  <a:rPr lang="en-US" dirty="0"/>
                  <a:t>Data: 1 response variable Y and n predictor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Construction: recursive partitioning. </a:t>
                </a:r>
              </a:p>
              <a:p>
                <a:pPr lvl="2"/>
                <a:r>
                  <a:rPr lang="en-US" dirty="0"/>
                  <a:t>Controlled growth vs growing &amp; pruning</a:t>
                </a:r>
              </a:p>
              <a:p>
                <a:r>
                  <a:rPr lang="en-US" dirty="0"/>
                  <a:t>Usage and applications: </a:t>
                </a:r>
              </a:p>
              <a:p>
                <a:pPr lvl="1"/>
                <a:r>
                  <a:rPr lang="en-US" dirty="0"/>
                  <a:t>Basic usage: Y = Tree(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) </a:t>
                </a:r>
              </a:p>
              <a:p>
                <a:pPr lvl="1"/>
                <a:r>
                  <a:rPr lang="en-US" dirty="0"/>
                  <a:t>Applicability: Mixed-types of data. </a:t>
                </a:r>
              </a:p>
              <a:p>
                <a:pPr lvl="1"/>
                <a:r>
                  <a:rPr lang="en-US" dirty="0"/>
                  <a:t>Past applications: social sciences </a:t>
                </a:r>
              </a:p>
              <a:p>
                <a:pPr lvl="1"/>
                <a:r>
                  <a:rPr lang="en-US" dirty="0"/>
                  <a:t>In SE: Risk identification by Selby &amp; Porter, Tian &amp; </a:t>
                </a:r>
                <a:r>
                  <a:rPr lang="en-US" dirty="0" err="1"/>
                  <a:t>Troster</a:t>
                </a:r>
                <a:r>
                  <a:rPr lang="en-US" dirty="0"/>
                  <a:t>, etc.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62A77-E811-843E-F04F-89646049A5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944562"/>
                <a:ext cx="8382000" cy="5638800"/>
              </a:xfrm>
              <a:blipFill>
                <a:blip r:embed="rId2"/>
                <a:stretch>
                  <a:fillRect l="-1527" t="-2162" b="-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50086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7225C-C295-DEC6-7DD2-7756081C6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0772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TBRM Simple Example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C225A6C-2F2D-3582-CEE9-7423340D40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"/>
          </p:nvPr>
        </p:nvSpPr>
        <p:spPr>
          <a:xfrm>
            <a:off x="438150" y="801687"/>
            <a:ext cx="7924800" cy="1371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1 categorical predictor and 1 response: </a:t>
            </a:r>
          </a:p>
          <a:p>
            <a:pPr lvl="1"/>
            <a:r>
              <a:rPr lang="en-US" dirty="0"/>
              <a:t>Binary grouping for partitioning </a:t>
            </a:r>
          </a:p>
          <a:p>
            <a:pPr lvl="1"/>
            <a:r>
              <a:rPr lang="en-US" dirty="0"/>
              <a:t>Example: Fig 10 (Tian 1998)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C6529580-68B8-F8BD-AB7B-E706EEE788E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24" y="2072595"/>
            <a:ext cx="7750776" cy="4552042"/>
          </a:xfr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9409426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92D91-F187-0B7F-AA1A-3B0485087C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57200" y="120153"/>
            <a:ext cx="8229600" cy="513147"/>
          </a:xfrm>
        </p:spPr>
        <p:txBody>
          <a:bodyPr>
            <a:normAutofit fontScale="90000"/>
          </a:bodyPr>
          <a:lstStyle/>
          <a:p>
            <a:r>
              <a:rPr lang="en-US" dirty="0"/>
              <a:t>TBRM Simple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0CB79-4E5D-8B8D-C537-D021392F7D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"/>
          </p:nvPr>
        </p:nvSpPr>
        <p:spPr>
          <a:xfrm>
            <a:off x="441960" y="762000"/>
            <a:ext cx="8229600" cy="140587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1 numerical predictor and 1 response: </a:t>
            </a:r>
          </a:p>
          <a:p>
            <a:pPr lvl="1"/>
            <a:r>
              <a:rPr lang="en-US" dirty="0"/>
              <a:t>Binary operator (≥) for partitioning</a:t>
            </a:r>
          </a:p>
          <a:p>
            <a:pPr lvl="2"/>
            <a:r>
              <a:rPr lang="en-US" dirty="0"/>
              <a:t>Run numbering (</a:t>
            </a:r>
            <a:r>
              <a:rPr lang="en-US" dirty="0" err="1"/>
              <a:t>rsn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Example: Fig 15 (Tian 1998)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5B53717-74CB-73F2-F991-F49478BB718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59" y="2296578"/>
            <a:ext cx="7362666" cy="4460864"/>
          </a:xfrm>
          <a:solidFill>
            <a:schemeClr val="bg1"/>
          </a:solidFill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196803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AA34F-8D54-44E4-848D-FFD37DE78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2875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TBRM Simple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04042-3020-3D24-F7AB-BC0BCE619C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"/>
          </p:nvPr>
        </p:nvSpPr>
        <p:spPr>
          <a:xfrm>
            <a:off x="457199" y="822243"/>
            <a:ext cx="8229600" cy="1427163"/>
          </a:xfrm>
        </p:spPr>
        <p:txBody>
          <a:bodyPr/>
          <a:lstStyle/>
          <a:p>
            <a:r>
              <a:rPr lang="en-US" dirty="0"/>
              <a:t>1 categorical predictor and 1 response: </a:t>
            </a:r>
          </a:p>
          <a:p>
            <a:pPr lvl="1"/>
            <a:r>
              <a:rPr lang="en-US" dirty="0"/>
              <a:t>Interpretation as piecewise linear model </a:t>
            </a:r>
          </a:p>
          <a:p>
            <a:pPr lvl="1"/>
            <a:r>
              <a:rPr lang="en-US" dirty="0"/>
              <a:t>Example continued: Fig 14 (Tian 1998)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E68A6DB-33F0-2AA9-9D3A-D312CA0560C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916" y="2319174"/>
            <a:ext cx="6122589" cy="4538826"/>
          </a:xfrm>
        </p:spPr>
      </p:pic>
    </p:spTree>
    <p:extLst>
      <p:ext uri="{BB962C8B-B14F-4D97-AF65-F5344CB8AC3E}">
        <p14:creationId xmlns:p14="http://schemas.microsoft.com/office/powerpoint/2010/main" val="14310997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29A01-C137-D74B-AA15-34FDA240F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TBRM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ECB1B-02D9-B84A-F975-52D6F076D3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"/>
          </p:nvPr>
        </p:nvSpPr>
        <p:spPr>
          <a:xfrm>
            <a:off x="533400" y="917959"/>
            <a:ext cx="8153400" cy="1524000"/>
          </a:xfrm>
        </p:spPr>
        <p:txBody>
          <a:bodyPr>
            <a:normAutofit/>
          </a:bodyPr>
          <a:lstStyle/>
          <a:p>
            <a:r>
              <a:rPr lang="en-US" dirty="0"/>
              <a:t>The n mixed predictors and 1 response: </a:t>
            </a:r>
          </a:p>
          <a:p>
            <a:pPr lvl="1"/>
            <a:r>
              <a:rPr lang="en-US" dirty="0"/>
              <a:t>Full TBRM </a:t>
            </a:r>
          </a:p>
          <a:p>
            <a:pPr lvl="1"/>
            <a:r>
              <a:rPr lang="en-US" dirty="0"/>
              <a:t>Example: Fig 11 (Tian 1998)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4425AA6-61E4-F1A4-C561-9827CF51130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34" y="2441959"/>
            <a:ext cx="7426132" cy="4297772"/>
          </a:xfrm>
        </p:spPr>
      </p:pic>
    </p:spTree>
    <p:extLst>
      <p:ext uri="{BB962C8B-B14F-4D97-AF65-F5344CB8AC3E}">
        <p14:creationId xmlns:p14="http://schemas.microsoft.com/office/powerpoint/2010/main" val="35339693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FA8E73F-70C2-018C-4945-1BDFA15C9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76200"/>
            <a:ext cx="83058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TBRM in Integrated Analysis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E32BDB-1211-3E0A-FFA7-327FD45ED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25" y="896937"/>
            <a:ext cx="8372475" cy="587533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Tree-based reliability models (TBRMs) using all information: </a:t>
            </a:r>
          </a:p>
          <a:p>
            <a:pPr lvl="1"/>
            <a:r>
              <a:rPr lang="en-US" dirty="0"/>
              <a:t>Input domain partitioning information. </a:t>
            </a:r>
          </a:p>
          <a:p>
            <a:pPr lvl="1"/>
            <a:r>
              <a:rPr lang="en-US" dirty="0"/>
              <a:t>Testing results. </a:t>
            </a:r>
          </a:p>
          <a:p>
            <a:pPr lvl="1"/>
            <a:r>
              <a:rPr lang="en-US" dirty="0"/>
              <a:t>Timing information. </a:t>
            </a:r>
          </a:p>
          <a:p>
            <a:pPr lvl="1"/>
            <a:r>
              <a:rPr lang="en-US" dirty="0"/>
              <a:t>Each run as a data point. </a:t>
            </a:r>
          </a:p>
          <a:p>
            <a:r>
              <a:rPr lang="en-US" dirty="0"/>
              <a:t>Model construction: </a:t>
            </a:r>
          </a:p>
          <a:p>
            <a:pPr lvl="1"/>
            <a:r>
              <a:rPr lang="en-US" dirty="0"/>
              <a:t>Response: Result indicator.</a:t>
            </a:r>
          </a:p>
          <a:p>
            <a:pPr lvl="2"/>
            <a:r>
              <a:rPr lang="en-US" dirty="0"/>
              <a:t>1 for success, 0 for failure. </a:t>
            </a:r>
          </a:p>
          <a:p>
            <a:pPr lvl="2"/>
            <a:r>
              <a:rPr lang="en-US" dirty="0"/>
              <a:t>Nelson model for subsets.</a:t>
            </a:r>
          </a:p>
          <a:p>
            <a:pPr lvl="2"/>
            <a:r>
              <a:rPr lang="en-US" dirty="0"/>
              <a:t>Mapping to failure rate or mean-time-between-failures (MTBF) </a:t>
            </a:r>
          </a:p>
          <a:p>
            <a:pPr lvl="1"/>
            <a:r>
              <a:rPr lang="en-US" dirty="0"/>
              <a:t>Predictor: Timing and input states.</a:t>
            </a:r>
          </a:p>
          <a:p>
            <a:pPr lvl="2"/>
            <a:r>
              <a:rPr lang="en-US" dirty="0"/>
              <a:t>Data sensitive partitioning.</a:t>
            </a:r>
          </a:p>
          <a:p>
            <a:pPr lvl="2"/>
            <a:r>
              <a:rPr lang="en-US" dirty="0"/>
              <a:t>Key factors affecting reliability.</a:t>
            </a:r>
          </a:p>
          <a:p>
            <a:pPr lvl="2"/>
            <a:r>
              <a:rPr lang="en-US" dirty="0"/>
              <a:t>Homogeneity of product reliability.</a:t>
            </a:r>
          </a:p>
        </p:txBody>
      </p:sp>
    </p:spTree>
    <p:extLst>
      <p:ext uri="{BB962C8B-B14F-4D97-AF65-F5344CB8AC3E}">
        <p14:creationId xmlns:p14="http://schemas.microsoft.com/office/powerpoint/2010/main" val="7901684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40250-4F28-457B-2E4D-FBB2F88EA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305800" cy="792162"/>
          </a:xfrm>
        </p:spPr>
        <p:txBody>
          <a:bodyPr/>
          <a:lstStyle/>
          <a:p>
            <a:r>
              <a:rPr lang="en-US" dirty="0"/>
              <a:t>Using Integrated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6A0F7-7C76-3BAA-3478-16E9D36EC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19200"/>
            <a:ext cx="8382000" cy="54864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Interpretation of trees: </a:t>
            </a:r>
          </a:p>
          <a:p>
            <a:pPr lvl="1"/>
            <a:r>
              <a:rPr lang="en-US" dirty="0"/>
              <a:t>Predicted response: success rate. </a:t>
            </a:r>
          </a:p>
          <a:p>
            <a:pPr lvl="2"/>
            <a:r>
              <a:rPr lang="en-US" dirty="0"/>
              <a:t>Nelson reliability estimate. </a:t>
            </a:r>
          </a:p>
          <a:p>
            <a:pPr lvl="1"/>
            <a:r>
              <a:rPr lang="en-US" dirty="0"/>
              <a:t>Time predictor: reliability change. </a:t>
            </a:r>
          </a:p>
          <a:p>
            <a:pPr lvl="1"/>
            <a:r>
              <a:rPr lang="en-US" dirty="0"/>
              <a:t>State predictor: risk identification. </a:t>
            </a:r>
          </a:p>
          <a:p>
            <a:r>
              <a:rPr lang="en-US" dirty="0"/>
              <a:t>Monitoring reliability change: </a:t>
            </a:r>
          </a:p>
          <a:p>
            <a:pPr lvl="1"/>
            <a:r>
              <a:rPr lang="en-US" dirty="0"/>
              <a:t>Change in predicted response. </a:t>
            </a:r>
          </a:p>
          <a:p>
            <a:pPr lvl="1"/>
            <a:r>
              <a:rPr lang="en-US" dirty="0"/>
              <a:t>Through tree structural change. </a:t>
            </a:r>
          </a:p>
          <a:p>
            <a:r>
              <a:rPr lang="en-US" dirty="0"/>
              <a:t>Risk identification and remedies: </a:t>
            </a:r>
          </a:p>
          <a:p>
            <a:pPr lvl="1"/>
            <a:r>
              <a:rPr lang="en-US" dirty="0"/>
              <a:t>Identify high risk input state. </a:t>
            </a:r>
          </a:p>
          <a:p>
            <a:pPr lvl="1"/>
            <a:r>
              <a:rPr lang="en-US" dirty="0"/>
              <a:t>Additional analysis. </a:t>
            </a:r>
          </a:p>
          <a:p>
            <a:pPr lvl="1"/>
            <a:r>
              <a:rPr lang="en-US" dirty="0"/>
              <a:t>Enhanced test cases. </a:t>
            </a:r>
          </a:p>
          <a:p>
            <a:pPr lvl="1"/>
            <a:r>
              <a:rPr lang="en-US" dirty="0"/>
              <a:t>Remedies for components.</a:t>
            </a:r>
          </a:p>
        </p:txBody>
      </p:sp>
    </p:spTree>
    <p:extLst>
      <p:ext uri="{BB962C8B-B14F-4D97-AF65-F5344CB8AC3E}">
        <p14:creationId xmlns:p14="http://schemas.microsoft.com/office/powerpoint/2010/main" val="29396347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8105A-BEF0-6FFC-EB55-F7D1BAAD7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305800" cy="715962"/>
          </a:xfrm>
        </p:spPr>
        <p:txBody>
          <a:bodyPr/>
          <a:lstStyle/>
          <a:p>
            <a:r>
              <a:rPr lang="en-US" dirty="0"/>
              <a:t>TBRMs in Integrated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AA3AD-262F-188D-0D07-88965EC3C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305800" cy="565388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Treatment of product bundles: </a:t>
            </a:r>
          </a:p>
          <a:p>
            <a:pPr lvl="1"/>
            <a:r>
              <a:rPr lang="en-US" dirty="0"/>
              <a:t>TBRM for individual products. </a:t>
            </a:r>
          </a:p>
          <a:p>
            <a:pPr lvl="1"/>
            <a:r>
              <a:rPr lang="en-US" dirty="0"/>
              <a:t>Dynamic change with respect to process needs. </a:t>
            </a:r>
          </a:p>
          <a:p>
            <a:pPr lvl="1"/>
            <a:r>
              <a:rPr lang="en-US" dirty="0"/>
              <a:t>SRGM (&amp; TBRM) for bundle near exit. </a:t>
            </a:r>
          </a:p>
          <a:p>
            <a:r>
              <a:rPr lang="en-US" dirty="0"/>
              <a:t>Risk identification: </a:t>
            </a:r>
          </a:p>
          <a:p>
            <a:pPr lvl="1"/>
            <a:r>
              <a:rPr lang="en-US" dirty="0"/>
              <a:t>High risk input sub-domains. </a:t>
            </a:r>
          </a:p>
          <a:p>
            <a:pPr lvl="1"/>
            <a:r>
              <a:rPr lang="en-US" dirty="0"/>
              <a:t>Additional analysis for the identified. </a:t>
            </a:r>
          </a:p>
          <a:p>
            <a:pPr lvl="1"/>
            <a:r>
              <a:rPr lang="en-US" dirty="0"/>
              <a:t>Guide for remedial actions. </a:t>
            </a:r>
          </a:p>
          <a:p>
            <a:r>
              <a:rPr lang="en-US" dirty="0"/>
              <a:t>Results interpretation: </a:t>
            </a:r>
          </a:p>
          <a:p>
            <a:pPr lvl="1"/>
            <a:r>
              <a:rPr lang="en-US" dirty="0"/>
              <a:t>Progression of trees &amp; tree types. </a:t>
            </a:r>
          </a:p>
          <a:p>
            <a:pPr lvl="1"/>
            <a:r>
              <a:rPr lang="en-US" dirty="0"/>
              <a:t>Usage as exit criteria.</a:t>
            </a:r>
          </a:p>
        </p:txBody>
      </p:sp>
    </p:spTree>
    <p:extLst>
      <p:ext uri="{BB962C8B-B14F-4D97-AF65-F5344CB8AC3E}">
        <p14:creationId xmlns:p14="http://schemas.microsoft.com/office/powerpoint/2010/main" val="23973841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EB059-1BC8-4DF2-F91A-67C9126A4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/>
          <a:lstStyle/>
          <a:p>
            <a:r>
              <a:rPr lang="en-US" dirty="0"/>
              <a:t>TBRMs at Different Times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0078E-90F9-45C7-B5B9-873E94B6AE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"/>
          </p:nvPr>
        </p:nvSpPr>
        <p:spPr>
          <a:xfrm>
            <a:off x="681037" y="909827"/>
            <a:ext cx="7781925" cy="139573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Fig 12a (Tian 1998): an early TBRM. </a:t>
            </a:r>
          </a:p>
          <a:p>
            <a:pPr lvl="1"/>
            <a:r>
              <a:rPr lang="en-US" dirty="0"/>
              <a:t>High-risk areas identified by input </a:t>
            </a:r>
          </a:p>
          <a:p>
            <a:pPr lvl="1"/>
            <a:r>
              <a:rPr lang="en-US" dirty="0"/>
              <a:t>Early actions to improve reliability</a:t>
            </a:r>
          </a:p>
          <a:p>
            <a:pPr lvl="2"/>
            <a:r>
              <a:rPr lang="en-US" dirty="0"/>
              <a:t>Test scenario SC and SN (Scenario Number)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FCF459E-EE4E-C9B6-53EC-7A8667B77DF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450" y="2305558"/>
            <a:ext cx="6515100" cy="4476242"/>
          </a:xfrm>
        </p:spPr>
      </p:pic>
    </p:spTree>
    <p:extLst>
      <p:ext uri="{BB962C8B-B14F-4D97-AF65-F5344CB8AC3E}">
        <p14:creationId xmlns:p14="http://schemas.microsoft.com/office/powerpoint/2010/main" val="3688952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DC15A-C4FF-8DC5-383B-103F7C3EA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5914"/>
            <a:ext cx="8229600" cy="729292"/>
          </a:xfrm>
        </p:spPr>
        <p:txBody>
          <a:bodyPr>
            <a:normAutofit fontScale="90000"/>
          </a:bodyPr>
          <a:lstStyle/>
          <a:p>
            <a:r>
              <a:rPr lang="en-US" dirty="0"/>
              <a:t>TBRMs at Different Times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283C2-53CB-59F6-7BCB-1D54FCFF5D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"/>
          </p:nvPr>
        </p:nvSpPr>
        <p:spPr>
          <a:xfrm>
            <a:off x="752475" y="825206"/>
            <a:ext cx="7486650" cy="1500982"/>
          </a:xfrm>
        </p:spPr>
        <p:txBody>
          <a:bodyPr/>
          <a:lstStyle/>
          <a:p>
            <a:r>
              <a:rPr lang="en-US" dirty="0"/>
              <a:t>Fig 12b (Tian 1998): whole testing phase </a:t>
            </a:r>
          </a:p>
          <a:p>
            <a:pPr lvl="1"/>
            <a:r>
              <a:rPr lang="en-US" dirty="0"/>
              <a:t>High-risk areas ≈ early runs </a:t>
            </a:r>
          </a:p>
          <a:p>
            <a:pPr lvl="1"/>
            <a:r>
              <a:rPr lang="en-US" dirty="0"/>
              <a:t>Uniformly reliable implies ready for release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E0B1C6A-8838-B092-C82E-56DDDA99E4E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301418"/>
            <a:ext cx="6400800" cy="4368890"/>
          </a:xfrm>
        </p:spPr>
      </p:pic>
    </p:spTree>
    <p:extLst>
      <p:ext uri="{BB962C8B-B14F-4D97-AF65-F5344CB8AC3E}">
        <p14:creationId xmlns:p14="http://schemas.microsoft.com/office/powerpoint/2010/main" val="31326562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995A2-8F50-A9A1-3537-4F99DDABA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76200"/>
            <a:ext cx="8305800" cy="792162"/>
          </a:xfrm>
        </p:spPr>
        <p:txBody>
          <a:bodyPr/>
          <a:lstStyle/>
          <a:p>
            <a:r>
              <a:rPr lang="en-US" dirty="0"/>
              <a:t>Cross Validation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D450A6-7800-9B9E-72EE-2EB5F132F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25" y="868362"/>
            <a:ext cx="8305800" cy="57610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Consistency with macro models: </a:t>
            </a:r>
          </a:p>
          <a:p>
            <a:pPr lvl="1"/>
            <a:r>
              <a:rPr lang="en-US" dirty="0"/>
              <a:t>Effects on cost, schedule, quality. </a:t>
            </a:r>
          </a:p>
          <a:p>
            <a:r>
              <a:rPr lang="en-US" dirty="0"/>
              <a:t>Validate with reliability growth models: </a:t>
            </a:r>
          </a:p>
          <a:p>
            <a:pPr lvl="1"/>
            <a:r>
              <a:rPr lang="en-US" dirty="0"/>
              <a:t>Trend of reliability growth. </a:t>
            </a:r>
          </a:p>
          <a:p>
            <a:pPr lvl="1"/>
            <a:r>
              <a:rPr lang="en-US" dirty="0"/>
              <a:t>Stability of failure arrivals. </a:t>
            </a:r>
          </a:p>
          <a:p>
            <a:pPr lvl="1"/>
            <a:r>
              <a:rPr lang="en-US" dirty="0"/>
              <a:t>Estimated reliability. </a:t>
            </a:r>
          </a:p>
          <a:p>
            <a:pPr lvl="1"/>
            <a:r>
              <a:rPr lang="en-US" dirty="0"/>
              <a:t>Product purity level at exit. </a:t>
            </a:r>
          </a:p>
          <a:p>
            <a:r>
              <a:rPr lang="en-US" dirty="0"/>
              <a:t>Process changes &amp; improvements: </a:t>
            </a:r>
          </a:p>
          <a:p>
            <a:pPr lvl="1"/>
            <a:r>
              <a:rPr lang="en-US" dirty="0"/>
              <a:t>Failure detection and fault removal. </a:t>
            </a:r>
          </a:p>
          <a:p>
            <a:pPr lvl="1"/>
            <a:r>
              <a:rPr lang="en-US" dirty="0"/>
              <a:t>Long term effect on development. </a:t>
            </a:r>
          </a:p>
          <a:p>
            <a:r>
              <a:rPr lang="en-US" dirty="0"/>
              <a:t>Ultimate test: In-field problems.</a:t>
            </a:r>
          </a:p>
        </p:txBody>
      </p:sp>
    </p:spTree>
    <p:extLst>
      <p:ext uri="{BB962C8B-B14F-4D97-AF65-F5344CB8AC3E}">
        <p14:creationId xmlns:p14="http://schemas.microsoft.com/office/powerpoint/2010/main" val="33898999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21944-6309-CD51-88FA-6F4FA7D50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TBRM Result Comparison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90A3BFEF-55BF-AB82-70C8-7D498E112D82}"/>
                  </a:ext>
                </a:extLst>
              </p:cNvPr>
              <p:cNvGraphicFramePr>
                <a:graphicFrameLocks noGrp="1" noDrilldown="1" noMove="1" noResize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4054820340"/>
                  </p:ext>
                </p:extLst>
              </p:nvPr>
            </p:nvGraphicFramePr>
            <p:xfrm>
              <a:off x="1066800" y="1069348"/>
              <a:ext cx="6858000" cy="23596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1600">
                      <a:extLst>
                        <a:ext uri="{9D8B030D-6E8A-4147-A177-3AD203B41FA5}">
                          <a16:colId xmlns:a16="http://schemas.microsoft.com/office/drawing/2014/main" val="1114968284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136330559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3936827232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340479465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4088733143"/>
                        </a:ext>
                      </a:extLst>
                    </a:gridCol>
                  </a:tblGrid>
                  <a:tr h="525542">
                    <a:tc rowSpan="2">
                      <a:txBody>
                        <a:bodyPr/>
                        <a:lstStyle/>
                        <a:p>
                          <a:r>
                            <a:rPr lang="en-US" dirty="0"/>
                            <a:t>Purification Level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Product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71296448"/>
                      </a:ext>
                    </a:extLst>
                  </a:tr>
                  <a:tr h="525542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D</a:t>
                          </a: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1183966"/>
                      </a:ext>
                    </a:extLst>
                  </a:tr>
                  <a:tr h="43619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0.527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0.542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0.990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4566424"/>
                      </a:ext>
                    </a:extLst>
                  </a:tr>
                  <a:tr h="43619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Median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0.653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0.447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0160619"/>
                      </a:ext>
                    </a:extLst>
                  </a:tr>
                  <a:tr h="43619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0.351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619509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90A3BFEF-55BF-AB82-70C8-7D498E112D82}"/>
                  </a:ext>
                </a:extLst>
              </p:cNvPr>
              <p:cNvGraphicFramePr>
                <a:graphicFrameLocks noGrp="1" noDrilldown="1" noMove="1" noResize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4054820340"/>
                  </p:ext>
                </p:extLst>
              </p:nvPr>
            </p:nvGraphicFramePr>
            <p:xfrm>
              <a:off x="1066800" y="1069348"/>
              <a:ext cx="6858000" cy="23596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1600">
                      <a:extLst>
                        <a:ext uri="{9D8B030D-6E8A-4147-A177-3AD203B41FA5}">
                          <a16:colId xmlns:a16="http://schemas.microsoft.com/office/drawing/2014/main" val="1114968284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136330559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3936827232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340479465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4088733143"/>
                        </a:ext>
                      </a:extLst>
                    </a:gridCol>
                  </a:tblGrid>
                  <a:tr h="525542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89" t="-2890" r="-402222" b="-126590"/>
                          </a:stretch>
                        </a:blipFill>
                      </a:tcPr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Product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71296448"/>
                      </a:ext>
                    </a:extLst>
                  </a:tr>
                  <a:tr h="525542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D</a:t>
                          </a: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1183966"/>
                      </a:ext>
                    </a:extLst>
                  </a:tr>
                  <a:tr h="43619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0.527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0.542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0.990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4566424"/>
                      </a:ext>
                    </a:extLst>
                  </a:tr>
                  <a:tr h="43619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Median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0.653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0.447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0160619"/>
                      </a:ext>
                    </a:extLst>
                  </a:tr>
                  <a:tr h="43619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0.351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619509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E1704B6-0E80-E26A-09FB-3C5A3209670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>
                <p:ph sz="half" idx="2"/>
              </p:nvPr>
            </p:nvSpPr>
            <p:spPr>
              <a:xfrm>
                <a:off x="685800" y="3810000"/>
                <a:ext cx="8001000" cy="26670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Table 22.3 (p.384): Quantitative comparison with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endParaRPr lang="en-US" dirty="0"/>
              </a:p>
              <a:p>
                <a:pPr marL="400050" lvl="1" indent="0">
                  <a:buNone/>
                </a:pPr>
                <a:r>
                  <a:rPr lang="en-US" dirty="0"/>
                  <a:t>Where: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=1 −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 failure rate at start of testing</a:t>
                </a:r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: failure rate at end of testing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E1704B6-0E80-E26A-09FB-3C5A320967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85800" y="3810000"/>
                <a:ext cx="8001000" cy="2667000"/>
              </a:xfrm>
              <a:blipFill>
                <a:blip r:embed="rId3"/>
                <a:stretch>
                  <a:fillRect l="-1372" t="-20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29517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686C8-4686-B8A2-C537-C408240D5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TBRM Result Comparison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F642D9-AC31-AF5F-850C-CA1DAEBC05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884239"/>
            <a:ext cx="7162800" cy="1554161"/>
          </a:xfrm>
        </p:spPr>
        <p:txBody>
          <a:bodyPr/>
          <a:lstStyle/>
          <a:p>
            <a:r>
              <a:rPr lang="en-US" dirty="0"/>
              <a:t>Fig 22.6 (p.384): TBRMs used in D </a:t>
            </a:r>
          </a:p>
          <a:p>
            <a:pPr lvl="1"/>
            <a:r>
              <a:rPr lang="en-US" dirty="0"/>
              <a:t>Better reliability growth in D </a:t>
            </a:r>
          </a:p>
          <a:p>
            <a:pPr lvl="1"/>
            <a:r>
              <a:rPr lang="en-US" dirty="0"/>
              <a:t>Compare to A, B, and C (no TBRMs)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1A41731-8B4C-8B91-7C64-B5FF02EACEC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385717"/>
            <a:ext cx="6096000" cy="4462758"/>
          </a:xfrm>
        </p:spPr>
      </p:pic>
    </p:spTree>
    <p:extLst>
      <p:ext uri="{BB962C8B-B14F-4D97-AF65-F5344CB8AC3E}">
        <p14:creationId xmlns:p14="http://schemas.microsoft.com/office/powerpoint/2010/main" val="9131032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567A9-F161-4130-7894-37E924CA4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45175"/>
          </a:xfrm>
        </p:spPr>
        <p:txBody>
          <a:bodyPr>
            <a:normAutofit fontScale="90000"/>
          </a:bodyPr>
          <a:lstStyle/>
          <a:p>
            <a:r>
              <a:rPr lang="en-US" dirty="0"/>
              <a:t>Integrated Approach: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C932B-2192-2C82-CAD9-5A424A4D76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"/>
          </p:nvPr>
        </p:nvSpPr>
        <p:spPr>
          <a:xfrm>
            <a:off x="533400" y="1026150"/>
            <a:ext cx="7086600" cy="12988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Modified testing process: Fig 18 (Tian 1998)</a:t>
            </a:r>
          </a:p>
          <a:p>
            <a:pPr lvl="1"/>
            <a:r>
              <a:rPr lang="en-US" dirty="0"/>
              <a:t>Additional link for data analysis. </a:t>
            </a:r>
          </a:p>
          <a:p>
            <a:pPr lvl="1"/>
            <a:r>
              <a:rPr lang="en-US" dirty="0"/>
              <a:t>Process change and remedial actions.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AF2A03F-9A95-B582-8DE4-42DF07157BB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200" y="2523516"/>
            <a:ext cx="8417599" cy="4018894"/>
          </a:xfrm>
        </p:spPr>
      </p:pic>
    </p:spTree>
    <p:extLst>
      <p:ext uri="{BB962C8B-B14F-4D97-AF65-F5344CB8AC3E}">
        <p14:creationId xmlns:p14="http://schemas.microsoft.com/office/powerpoint/2010/main" val="6448467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A95FA-78AC-F8A1-BBF5-216B853D0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US" dirty="0"/>
              <a:t>Integrated Approach: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BAD3A-5D88-3226-55B3-4CF5918A3B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"/>
          </p:nvPr>
        </p:nvSpPr>
        <p:spPr>
          <a:xfrm>
            <a:off x="685800" y="1066800"/>
            <a:ext cx="7391400" cy="1398094"/>
          </a:xfrm>
        </p:spPr>
        <p:txBody>
          <a:bodyPr/>
          <a:lstStyle/>
          <a:p>
            <a:r>
              <a:rPr lang="en-US" dirty="0"/>
              <a:t>Tool support: Fig 20 (Tian 1998) </a:t>
            </a:r>
          </a:p>
          <a:p>
            <a:pPr lvl="1"/>
            <a:r>
              <a:rPr lang="en-US" dirty="0"/>
              <a:t>Different types of tools </a:t>
            </a:r>
          </a:p>
          <a:p>
            <a:pPr lvl="1"/>
            <a:r>
              <a:rPr lang="en-US" dirty="0"/>
              <a:t>I/O and interconnection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C62C097-376F-D5C1-5517-AA24B05E0B9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87132"/>
            <a:ext cx="8882007" cy="3804255"/>
          </a:xfrm>
        </p:spPr>
      </p:pic>
    </p:spTree>
    <p:extLst>
      <p:ext uri="{BB962C8B-B14F-4D97-AF65-F5344CB8AC3E}">
        <p14:creationId xmlns:p14="http://schemas.microsoft.com/office/powerpoint/2010/main" val="37485858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F70C5-AF2C-ECC9-4CB1-2CA7B9A29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305800" cy="792162"/>
          </a:xfrm>
        </p:spPr>
        <p:txBody>
          <a:bodyPr>
            <a:normAutofit/>
          </a:bodyPr>
          <a:lstStyle/>
          <a:p>
            <a:r>
              <a:rPr lang="en-US" dirty="0"/>
              <a:t>Integrated Approach: Implementation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15DF92-4A01-827C-4CB8-769DB87E8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534400" cy="5486400"/>
          </a:xfrm>
        </p:spPr>
        <p:txBody>
          <a:bodyPr>
            <a:normAutofit/>
          </a:bodyPr>
          <a:lstStyle/>
          <a:p>
            <a:r>
              <a:rPr lang="en-US" dirty="0"/>
              <a:t>Activities and Responsibilities: </a:t>
            </a:r>
          </a:p>
          <a:p>
            <a:pPr lvl="1"/>
            <a:r>
              <a:rPr lang="en-US" dirty="0"/>
              <a:t>Evolutionary, stepwise refinement. </a:t>
            </a:r>
          </a:p>
          <a:p>
            <a:pPr lvl="1"/>
            <a:r>
              <a:rPr lang="en-US" dirty="0"/>
              <a:t>Collaboration: project &amp; quality orgs. </a:t>
            </a:r>
          </a:p>
          <a:p>
            <a:pPr lvl="1"/>
            <a:r>
              <a:rPr lang="en-US" dirty="0"/>
              <a:t>Experience factory prototype (Basili). </a:t>
            </a:r>
          </a:p>
          <a:p>
            <a:r>
              <a:rPr lang="en-US" dirty="0"/>
              <a:t> Implementation: </a:t>
            </a:r>
          </a:p>
          <a:p>
            <a:pPr lvl="1"/>
            <a:r>
              <a:rPr lang="en-US" dirty="0"/>
              <a:t>Passive tracking and active guidance. </a:t>
            </a:r>
          </a:p>
          <a:p>
            <a:pPr lvl="1"/>
            <a:r>
              <a:rPr lang="en-US" dirty="0"/>
              <a:t>Periodic and event-triggered. </a:t>
            </a:r>
          </a:p>
          <a:p>
            <a:pPr lvl="1"/>
            <a:r>
              <a:rPr lang="en-US" dirty="0"/>
              <a:t>Software tool support</a:t>
            </a:r>
          </a:p>
        </p:txBody>
      </p:sp>
    </p:spTree>
    <p:extLst>
      <p:ext uri="{BB962C8B-B14F-4D97-AF65-F5344CB8AC3E}">
        <p14:creationId xmlns:p14="http://schemas.microsoft.com/office/powerpoint/2010/main" val="33732672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CB466-B598-51CB-A396-350454311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4306"/>
            <a:ext cx="8305800" cy="792162"/>
          </a:xfrm>
        </p:spPr>
        <p:txBody>
          <a:bodyPr/>
          <a:lstStyle/>
          <a:p>
            <a:r>
              <a:rPr lang="en-US" dirty="0"/>
              <a:t>Implementation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1BB4-507E-D27E-2395-290BB8F04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75518"/>
            <a:ext cx="8305800" cy="57181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Types of tool support: </a:t>
            </a:r>
          </a:p>
          <a:p>
            <a:pPr lvl="1"/>
            <a:r>
              <a:rPr lang="en-US" dirty="0"/>
              <a:t>Data capturing</a:t>
            </a:r>
          </a:p>
          <a:p>
            <a:pPr lvl="2"/>
            <a:r>
              <a:rPr lang="en-US" dirty="0"/>
              <a:t>Mostly existing logging tools</a:t>
            </a:r>
          </a:p>
          <a:p>
            <a:pPr lvl="2"/>
            <a:r>
              <a:rPr lang="en-US" dirty="0"/>
              <a:t>Modified to capture new data </a:t>
            </a:r>
          </a:p>
          <a:p>
            <a:pPr lvl="1"/>
            <a:r>
              <a:rPr lang="en-US" dirty="0"/>
              <a:t>Analysis and modeling</a:t>
            </a:r>
          </a:p>
          <a:p>
            <a:pPr lvl="2"/>
            <a:r>
              <a:rPr lang="en-US" dirty="0"/>
              <a:t>SMERFS modeling tool</a:t>
            </a:r>
          </a:p>
          <a:p>
            <a:pPr lvl="2"/>
            <a:r>
              <a:rPr lang="en-US" dirty="0"/>
              <a:t>S-PLUS and related programs </a:t>
            </a:r>
          </a:p>
          <a:p>
            <a:pPr lvl="1"/>
            <a:r>
              <a:rPr lang="en-US" dirty="0"/>
              <a:t>Presentation/visualization and feedback</a:t>
            </a:r>
          </a:p>
          <a:p>
            <a:pPr lvl="2"/>
            <a:r>
              <a:rPr lang="en-US" dirty="0"/>
              <a:t>S-PLUS and Tree-Browser </a:t>
            </a:r>
          </a:p>
          <a:p>
            <a:r>
              <a:rPr lang="en-US" dirty="0"/>
              <a:t>Implementation of tool support: </a:t>
            </a:r>
          </a:p>
          <a:p>
            <a:pPr lvl="1"/>
            <a:r>
              <a:rPr lang="en-US" dirty="0"/>
              <a:t>Existing (IBM + others) tools: cost go down </a:t>
            </a:r>
          </a:p>
          <a:p>
            <a:pPr lvl="1"/>
            <a:r>
              <a:rPr lang="en-US" dirty="0"/>
              <a:t>New tools and utility programs </a:t>
            </a:r>
          </a:p>
          <a:p>
            <a:pPr lvl="1"/>
            <a:r>
              <a:rPr lang="en-US" dirty="0"/>
              <a:t>Tool integration</a:t>
            </a:r>
          </a:p>
          <a:p>
            <a:pPr lvl="2"/>
            <a:r>
              <a:rPr lang="en-US" dirty="0"/>
              <a:t>Loosely coupled suite of tools</a:t>
            </a:r>
          </a:p>
          <a:p>
            <a:pPr lvl="2"/>
            <a:r>
              <a:rPr lang="en-US" dirty="0"/>
              <a:t>Connectors/utility programs</a:t>
            </a:r>
          </a:p>
          <a:p>
            <a:pPr lvl="2"/>
            <a:r>
              <a:rPr lang="en-US" dirty="0"/>
              <a:t>Common depository: S-PLUS</a:t>
            </a:r>
          </a:p>
        </p:txBody>
      </p:sp>
    </p:spTree>
    <p:extLst>
      <p:ext uri="{BB962C8B-B14F-4D97-AF65-F5344CB8AC3E}">
        <p14:creationId xmlns:p14="http://schemas.microsoft.com/office/powerpoint/2010/main" val="35955979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AC9DF-B79A-4534-A4A5-168041940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305800" cy="792162"/>
          </a:xfrm>
        </p:spPr>
        <p:txBody>
          <a:bodyPr/>
          <a:lstStyle/>
          <a:p>
            <a:r>
              <a:rPr lang="en-US" dirty="0"/>
              <a:t>Application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D1FE3-545A-F3A7-F274-476F2351F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066800"/>
            <a:ext cx="8458200" cy="5638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Tracking and input-domain analysis:</a:t>
            </a:r>
          </a:p>
          <a:p>
            <a:pPr lvl="1"/>
            <a:r>
              <a:rPr lang="en-US" dirty="0"/>
              <a:t>Effectiveness of visualization. </a:t>
            </a:r>
          </a:p>
          <a:p>
            <a:pPr lvl="1"/>
            <a:r>
              <a:rPr lang="en-US" dirty="0"/>
              <a:t>Problems with input-domain assessment. </a:t>
            </a:r>
          </a:p>
          <a:p>
            <a:r>
              <a:rPr lang="en-US" dirty="0"/>
              <a:t>Time-domain analysis refinement: </a:t>
            </a:r>
          </a:p>
          <a:p>
            <a:pPr lvl="1"/>
            <a:r>
              <a:rPr lang="en-US" dirty="0"/>
              <a:t>Data normalization by runs/transactions best. </a:t>
            </a:r>
          </a:p>
          <a:p>
            <a:pPr lvl="1"/>
            <a:r>
              <a:rPr lang="en-US" dirty="0"/>
              <a:t>Context sensitive modeling promising. </a:t>
            </a:r>
          </a:p>
          <a:p>
            <a:r>
              <a:rPr lang="en-US" dirty="0"/>
              <a:t>Integrated approach using TBRM: </a:t>
            </a:r>
          </a:p>
          <a:p>
            <a:pPr lvl="1"/>
            <a:r>
              <a:rPr lang="en-US" dirty="0"/>
              <a:t>Guidance as well as assessment. </a:t>
            </a:r>
          </a:p>
          <a:p>
            <a:pPr lvl="1"/>
            <a:r>
              <a:rPr lang="en-US" dirty="0"/>
              <a:t>Risk focusing implies reliability improvement. </a:t>
            </a:r>
          </a:p>
          <a:p>
            <a:pPr lvl="1"/>
            <a:r>
              <a:rPr lang="en-US" dirty="0"/>
              <a:t>Progression of trees. </a:t>
            </a:r>
          </a:p>
          <a:p>
            <a:pPr lvl="1"/>
            <a:r>
              <a:rPr lang="en-US" dirty="0"/>
              <a:t>Usage as exit criteria. </a:t>
            </a:r>
          </a:p>
          <a:p>
            <a:pPr lvl="1"/>
            <a:r>
              <a:rPr lang="en-US" dirty="0"/>
              <a:t>Cross validation.</a:t>
            </a:r>
          </a:p>
        </p:txBody>
      </p:sp>
    </p:spTree>
    <p:extLst>
      <p:ext uri="{BB962C8B-B14F-4D97-AF65-F5344CB8AC3E}">
        <p14:creationId xmlns:p14="http://schemas.microsoft.com/office/powerpoint/2010/main" val="40304484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E17AA-802B-F11B-9AD2-462209259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"/>
            <a:ext cx="8305800" cy="792162"/>
          </a:xfrm>
        </p:spPr>
        <p:txBody>
          <a:bodyPr/>
          <a:lstStyle/>
          <a:p>
            <a:r>
              <a:rPr lang="en-US" dirty="0"/>
              <a:t>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0126C-9EB2-3E9B-7C37-EB2F4AAE7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820737"/>
            <a:ext cx="8420100" cy="58848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Implementation and deployment: </a:t>
            </a:r>
          </a:p>
          <a:p>
            <a:pPr lvl="1"/>
            <a:r>
              <a:rPr lang="en-US" dirty="0"/>
              <a:t>Data: automated data capturing. </a:t>
            </a:r>
          </a:p>
          <a:p>
            <a:pPr lvl="1"/>
            <a:r>
              <a:rPr lang="en-US" dirty="0"/>
              <a:t>OP: evolutionary approach. </a:t>
            </a:r>
          </a:p>
          <a:p>
            <a:pPr lvl="1"/>
            <a:r>
              <a:rPr lang="en-US" dirty="0"/>
              <a:t>Integration: analysis and improvement. </a:t>
            </a:r>
          </a:p>
          <a:p>
            <a:pPr lvl="1"/>
            <a:r>
              <a:rPr lang="en-US" dirty="0"/>
              <a:t>Use in different industrial environments. </a:t>
            </a:r>
          </a:p>
          <a:p>
            <a:r>
              <a:rPr lang="en-US" dirty="0"/>
              <a:t>Exploration and improvement: </a:t>
            </a:r>
          </a:p>
          <a:p>
            <a:pPr lvl="1"/>
            <a:r>
              <a:rPr lang="en-US" dirty="0"/>
              <a:t>Customize time/transaction measurement. </a:t>
            </a:r>
          </a:p>
          <a:p>
            <a:pPr lvl="1"/>
            <a:r>
              <a:rPr lang="en-US" dirty="0"/>
              <a:t>Early indicators/predictive modeling. </a:t>
            </a:r>
          </a:p>
          <a:p>
            <a:pPr lvl="1"/>
            <a:r>
              <a:rPr lang="en-US" dirty="0"/>
              <a:t>Customer environment/OP refinement. </a:t>
            </a:r>
          </a:p>
          <a:p>
            <a:pPr lvl="1"/>
            <a:r>
              <a:rPr lang="en-US" dirty="0"/>
              <a:t>Integrate to life-cycle quality models. </a:t>
            </a:r>
          </a:p>
          <a:p>
            <a:pPr lvl="1"/>
            <a:r>
              <a:rPr lang="en-US" dirty="0"/>
              <a:t>Management and cost modeling. </a:t>
            </a:r>
          </a:p>
          <a:p>
            <a:pPr lvl="1"/>
            <a:r>
              <a:rPr lang="en-US" dirty="0"/>
              <a:t>Refinement of modeling techniques. </a:t>
            </a:r>
          </a:p>
          <a:p>
            <a:r>
              <a:rPr lang="en-US" dirty="0"/>
              <a:t>Continued research at SMU and collaboration with our industrial partners.</a:t>
            </a:r>
          </a:p>
        </p:txBody>
      </p:sp>
    </p:spTree>
    <p:extLst>
      <p:ext uri="{BB962C8B-B14F-4D97-AF65-F5344CB8AC3E}">
        <p14:creationId xmlns:p14="http://schemas.microsoft.com/office/powerpoint/2010/main" val="38307990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EB8CC-D2F1-A368-5121-313A56F00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Hazard Analysis (HA)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E6FDF-4683-87AD-87EC-31B220322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Hazard Analyses and Techniques </a:t>
            </a:r>
          </a:p>
          <a:p>
            <a:r>
              <a:rPr lang="en-US" dirty="0"/>
              <a:t>Fault Tree Analysis (FTA) </a:t>
            </a:r>
          </a:p>
          <a:p>
            <a:r>
              <a:rPr lang="en-US" dirty="0"/>
              <a:t>Event Tree Analysis (ETA) </a:t>
            </a:r>
          </a:p>
          <a:p>
            <a:r>
              <a:rPr lang="en-US" dirty="0"/>
              <a:t>Other HA Techniques</a:t>
            </a:r>
          </a:p>
        </p:txBody>
      </p:sp>
    </p:spTree>
    <p:extLst>
      <p:ext uri="{BB962C8B-B14F-4D97-AF65-F5344CB8AC3E}">
        <p14:creationId xmlns:p14="http://schemas.microsoft.com/office/powerpoint/2010/main" val="42932878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8E7F1-22EE-FC54-D3F4-74AB67AE4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152400"/>
            <a:ext cx="8305800" cy="792162"/>
          </a:xfrm>
        </p:spPr>
        <p:txBody>
          <a:bodyPr/>
          <a:lstStyle/>
          <a:p>
            <a:r>
              <a:rPr lang="en-US" dirty="0"/>
              <a:t>Safety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BCF4C-0763-8188-373A-DD5F11DD3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944562"/>
            <a:ext cx="8305800" cy="56848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Hazard and risk identification: </a:t>
            </a:r>
          </a:p>
          <a:p>
            <a:pPr lvl="1"/>
            <a:r>
              <a:rPr lang="en-US" dirty="0"/>
              <a:t>Accident scenarios: actual/hypothetical</a:t>
            </a:r>
          </a:p>
          <a:p>
            <a:pPr lvl="2"/>
            <a:r>
              <a:rPr lang="en-US" dirty="0"/>
              <a:t>Starting points for safety </a:t>
            </a:r>
          </a:p>
          <a:p>
            <a:pPr lvl="1"/>
            <a:r>
              <a:rPr lang="en-US" dirty="0"/>
              <a:t>Focus: operations and operational </a:t>
            </a:r>
            <a:r>
              <a:rPr lang="en-US" dirty="0" err="1"/>
              <a:t>enviroment</a:t>
            </a:r>
            <a:r>
              <a:rPr lang="en-US" dirty="0"/>
              <a:t> </a:t>
            </a:r>
          </a:p>
          <a:p>
            <a:r>
              <a:rPr lang="en-US" dirty="0"/>
              <a:t>Hazard analysis and assessment: </a:t>
            </a:r>
          </a:p>
          <a:p>
            <a:pPr lvl="1"/>
            <a:r>
              <a:rPr lang="en-US" dirty="0"/>
              <a:t>Fault trees: (static) logical conditions </a:t>
            </a:r>
          </a:p>
          <a:p>
            <a:pPr lvl="1"/>
            <a:r>
              <a:rPr lang="en-US" dirty="0"/>
              <a:t>Event trees: dynamic sequences </a:t>
            </a:r>
          </a:p>
          <a:p>
            <a:pPr lvl="1"/>
            <a:r>
              <a:rPr lang="en-US" dirty="0"/>
              <a:t>Other analyses/assessment techniques </a:t>
            </a:r>
          </a:p>
          <a:p>
            <a:r>
              <a:rPr lang="en-US" dirty="0"/>
              <a:t>Hazard and risk resolution </a:t>
            </a:r>
          </a:p>
          <a:p>
            <a:pPr lvl="1"/>
            <a:r>
              <a:rPr lang="en-US" dirty="0"/>
              <a:t>Hazard elimination </a:t>
            </a:r>
          </a:p>
          <a:p>
            <a:pPr lvl="1"/>
            <a:r>
              <a:rPr lang="en-US" dirty="0"/>
              <a:t>Hazard reduction </a:t>
            </a:r>
          </a:p>
          <a:p>
            <a:pPr lvl="1"/>
            <a:r>
              <a:rPr lang="en-US" dirty="0"/>
              <a:t>Hazard control </a:t>
            </a:r>
          </a:p>
          <a:p>
            <a:pPr lvl="1"/>
            <a:r>
              <a:rPr lang="en-US" dirty="0"/>
              <a:t>Damage control</a:t>
            </a:r>
          </a:p>
        </p:txBody>
      </p:sp>
    </p:spTree>
    <p:extLst>
      <p:ext uri="{BB962C8B-B14F-4D97-AF65-F5344CB8AC3E}">
        <p14:creationId xmlns:p14="http://schemas.microsoft.com/office/powerpoint/2010/main" val="15156878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EAB12-D845-9166-2ED4-C6E7017B1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305800" cy="792162"/>
          </a:xfrm>
        </p:spPr>
        <p:txBody>
          <a:bodyPr/>
          <a:lstStyle/>
          <a:p>
            <a:r>
              <a:rPr lang="en-US" dirty="0"/>
              <a:t>Safety Techniques in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83BBD-992D-4197-8332-1C6488165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975518"/>
            <a:ext cx="8210550" cy="573008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Starting points for safety (initiation) </a:t>
            </a:r>
          </a:p>
          <a:p>
            <a:pPr lvl="1"/>
            <a:r>
              <a:rPr lang="en-US" dirty="0"/>
              <a:t>Accident actual/hypothetical </a:t>
            </a:r>
          </a:p>
          <a:p>
            <a:pPr lvl="2"/>
            <a:r>
              <a:rPr lang="en-US" dirty="0"/>
              <a:t>Hazard and risk identification </a:t>
            </a:r>
          </a:p>
          <a:p>
            <a:r>
              <a:rPr lang="en-US" dirty="0"/>
              <a:t>Hazard analysis (pre-process?) </a:t>
            </a:r>
          </a:p>
          <a:p>
            <a:pPr lvl="1"/>
            <a:r>
              <a:rPr lang="en-US" dirty="0"/>
              <a:t>Input: above plus expertise </a:t>
            </a:r>
          </a:p>
          <a:p>
            <a:pPr lvl="1"/>
            <a:r>
              <a:rPr lang="en-US" dirty="0"/>
              <a:t>Output: driver for Hazard Resolution (below) </a:t>
            </a:r>
          </a:p>
          <a:p>
            <a:r>
              <a:rPr lang="en-US" dirty="0"/>
              <a:t>Hazard and risk resolution </a:t>
            </a:r>
          </a:p>
          <a:p>
            <a:pPr lvl="1"/>
            <a:r>
              <a:rPr lang="en-US" dirty="0"/>
              <a:t>Negate</a:t>
            </a:r>
          </a:p>
          <a:p>
            <a:pPr lvl="2"/>
            <a:r>
              <a:rPr lang="en-US" dirty="0"/>
              <a:t>Tolerate(passive)/control(active) </a:t>
            </a:r>
          </a:p>
          <a:p>
            <a:pPr lvl="1"/>
            <a:r>
              <a:rPr lang="en-US" dirty="0"/>
              <a:t>Damage control (post accident) </a:t>
            </a:r>
          </a:p>
          <a:p>
            <a:pPr lvl="1"/>
            <a:r>
              <a:rPr lang="en-US" dirty="0"/>
              <a:t>In-process: </a:t>
            </a:r>
          </a:p>
          <a:p>
            <a:pPr lvl="2"/>
            <a:r>
              <a:rPr lang="en-US" dirty="0"/>
              <a:t>Cascading activities</a:t>
            </a:r>
          </a:p>
          <a:p>
            <a:pPr lvl="2"/>
            <a:r>
              <a:rPr lang="en-US" dirty="0"/>
              <a:t>Hazard Resolution and/plus Hazard Analysis</a:t>
            </a:r>
          </a:p>
        </p:txBody>
      </p:sp>
    </p:spTree>
    <p:extLst>
      <p:ext uri="{BB962C8B-B14F-4D97-AF65-F5344CB8AC3E}">
        <p14:creationId xmlns:p14="http://schemas.microsoft.com/office/powerpoint/2010/main" val="27025756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F9C1A-5C13-F9D7-0656-C89600D54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76200"/>
            <a:ext cx="8305800" cy="715962"/>
          </a:xfrm>
        </p:spPr>
        <p:txBody>
          <a:bodyPr/>
          <a:lstStyle/>
          <a:p>
            <a:r>
              <a:rPr lang="en-US" dirty="0"/>
              <a:t>Hazard Analysis: Types/Levels/Scope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02942-F3AA-F034-AD80-657A8DAEC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1212"/>
            <a:ext cx="8467725" cy="589438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Sub-system hazard analyses (SSHA) </a:t>
            </a:r>
          </a:p>
          <a:p>
            <a:pPr lvl="1"/>
            <a:r>
              <a:rPr lang="en-US" dirty="0"/>
              <a:t>Hazard within individual sub-system </a:t>
            </a:r>
          </a:p>
          <a:p>
            <a:pPr lvl="1"/>
            <a:r>
              <a:rPr lang="en-US" dirty="0"/>
              <a:t>Component/sub-system in isolation </a:t>
            </a:r>
          </a:p>
          <a:p>
            <a:r>
              <a:rPr lang="en-US" dirty="0"/>
              <a:t>System hazard analyses (SHA) </a:t>
            </a:r>
          </a:p>
          <a:p>
            <a:pPr lvl="1"/>
            <a:r>
              <a:rPr lang="en-US" dirty="0"/>
              <a:t>Focus: interface and interaction </a:t>
            </a:r>
          </a:p>
          <a:p>
            <a:pPr lvl="1"/>
            <a:r>
              <a:rPr lang="en-US" dirty="0"/>
              <a:t>Sub system/environment/human effect on system </a:t>
            </a:r>
          </a:p>
          <a:p>
            <a:pPr lvl="1"/>
            <a:r>
              <a:rPr lang="en-US" dirty="0"/>
              <a:t>Throughout development process </a:t>
            </a:r>
          </a:p>
          <a:p>
            <a:pPr lvl="1"/>
            <a:r>
              <a:rPr lang="en-US" dirty="0"/>
              <a:t>Focus on early phases to provide info. for other activities (hazard resolution and safety verification) </a:t>
            </a:r>
          </a:p>
          <a:p>
            <a:r>
              <a:rPr lang="en-US" dirty="0"/>
              <a:t>SHA/SSHA in software process </a:t>
            </a:r>
          </a:p>
          <a:p>
            <a:pPr lvl="1"/>
            <a:r>
              <a:rPr lang="en-US" dirty="0"/>
              <a:t>Throughout development process </a:t>
            </a:r>
          </a:p>
          <a:p>
            <a:pPr lvl="1"/>
            <a:r>
              <a:rPr lang="en-US" dirty="0"/>
              <a:t>Focus on early phases to provide information for other activities </a:t>
            </a:r>
          </a:p>
          <a:p>
            <a:pPr lvl="2"/>
            <a:r>
              <a:rPr lang="en-US" dirty="0"/>
              <a:t>Hazard resolution and safety verification</a:t>
            </a:r>
          </a:p>
        </p:txBody>
      </p:sp>
    </p:spTree>
    <p:extLst>
      <p:ext uri="{BB962C8B-B14F-4D97-AF65-F5344CB8AC3E}">
        <p14:creationId xmlns:p14="http://schemas.microsoft.com/office/powerpoint/2010/main" val="31369351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EF9E4-83BF-2152-8610-FD217D0E4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152400"/>
            <a:ext cx="8305800" cy="792162"/>
          </a:xfrm>
        </p:spPr>
        <p:txBody>
          <a:bodyPr/>
          <a:lstStyle/>
          <a:p>
            <a:r>
              <a:rPr lang="en-US" dirty="0"/>
              <a:t>Hazard Analyses: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3DC3D-C50C-1C2C-A742-88D47CAFF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24" y="975518"/>
            <a:ext cx="8448675" cy="573008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Primary techniques for SHA/SSHA: </a:t>
            </a:r>
          </a:p>
          <a:p>
            <a:pPr lvl="1"/>
            <a:r>
              <a:rPr lang="en-US" dirty="0"/>
              <a:t>Fault-tree analyses (FTA) </a:t>
            </a:r>
          </a:p>
          <a:p>
            <a:pPr lvl="1"/>
            <a:r>
              <a:rPr lang="en-US" dirty="0"/>
              <a:t>Event-tree analyses (ETA) </a:t>
            </a:r>
          </a:p>
          <a:p>
            <a:pPr lvl="1"/>
            <a:r>
              <a:rPr lang="en-US" dirty="0"/>
              <a:t>SQE Ch.16.4 and </a:t>
            </a:r>
            <a:r>
              <a:rPr lang="en-US" dirty="0" err="1"/>
              <a:t>Safeware</a:t>
            </a:r>
            <a:r>
              <a:rPr lang="en-US" dirty="0"/>
              <a:t> Ch.14. </a:t>
            </a:r>
          </a:p>
          <a:p>
            <a:r>
              <a:rPr lang="en-US" dirty="0"/>
              <a:t>Other techniques: </a:t>
            </a:r>
          </a:p>
          <a:p>
            <a:pPr lvl="1"/>
            <a:r>
              <a:rPr lang="en-US" dirty="0"/>
              <a:t>Design reviews &amp; checklists </a:t>
            </a:r>
          </a:p>
          <a:p>
            <a:pPr lvl="1"/>
            <a:r>
              <a:rPr lang="en-US" dirty="0"/>
              <a:t>Hazard indices </a:t>
            </a:r>
          </a:p>
          <a:p>
            <a:pPr lvl="1"/>
            <a:r>
              <a:rPr lang="en-US" dirty="0"/>
              <a:t>Risk trees </a:t>
            </a:r>
          </a:p>
          <a:p>
            <a:pPr lvl="1"/>
            <a:r>
              <a:rPr lang="en-US" dirty="0"/>
              <a:t>Cause-consequence analysis (CCA) </a:t>
            </a:r>
          </a:p>
          <a:p>
            <a:pPr lvl="1"/>
            <a:r>
              <a:rPr lang="en-US" dirty="0"/>
              <a:t>Hazard &amp; operability analysis (HAZOP) </a:t>
            </a:r>
          </a:p>
          <a:p>
            <a:pPr lvl="1"/>
            <a:r>
              <a:rPr lang="en-US" dirty="0"/>
              <a:t>Failure modes and effect analysis (FMEA) </a:t>
            </a:r>
          </a:p>
          <a:p>
            <a:pPr lvl="1"/>
            <a:r>
              <a:rPr lang="en-US" dirty="0"/>
              <a:t>FMECA (FMEA + Criticality), etc. </a:t>
            </a:r>
          </a:p>
          <a:p>
            <a:pPr lvl="2"/>
            <a:r>
              <a:rPr lang="en-US" dirty="0"/>
              <a:t>Above: “</a:t>
            </a:r>
            <a:r>
              <a:rPr lang="en-US" dirty="0" err="1"/>
              <a:t>Safeware</a:t>
            </a:r>
            <a:r>
              <a:rPr lang="en-US" dirty="0"/>
              <a:t>” Ch.14. </a:t>
            </a:r>
          </a:p>
          <a:p>
            <a:pPr lvl="2"/>
            <a:r>
              <a:rPr lang="en-US" dirty="0"/>
              <a:t>Specific to software: “</a:t>
            </a:r>
            <a:r>
              <a:rPr lang="en-US" dirty="0" err="1"/>
              <a:t>Safeware</a:t>
            </a:r>
            <a:r>
              <a:rPr lang="en-US" dirty="0"/>
              <a:t>” Ch.15. </a:t>
            </a:r>
          </a:p>
          <a:p>
            <a:pPr lvl="1"/>
            <a:r>
              <a:rPr lang="en-US" dirty="0"/>
              <a:t>System Theoretic Accident Mode (STAMP) (Model 4)</a:t>
            </a:r>
          </a:p>
        </p:txBody>
      </p:sp>
    </p:spTree>
    <p:extLst>
      <p:ext uri="{BB962C8B-B14F-4D97-AF65-F5344CB8AC3E}">
        <p14:creationId xmlns:p14="http://schemas.microsoft.com/office/powerpoint/2010/main" val="21526362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BFE22-3D83-3BDB-F9D1-9D431BE2C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305800" cy="792162"/>
          </a:xfrm>
        </p:spPr>
        <p:txBody>
          <a:bodyPr/>
          <a:lstStyle/>
          <a:p>
            <a:r>
              <a:rPr lang="en-US" dirty="0"/>
              <a:t>Hazard Analysis: FTA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EF67B-265C-0DD4-4723-9342DC2A5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75518"/>
            <a:ext cx="8305800" cy="565388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Fault tree idea: </a:t>
            </a:r>
          </a:p>
          <a:p>
            <a:pPr lvl="1"/>
            <a:r>
              <a:rPr lang="en-US" dirty="0"/>
              <a:t>Top event (accident) </a:t>
            </a:r>
          </a:p>
          <a:p>
            <a:pPr lvl="1"/>
            <a:r>
              <a:rPr lang="en-US" dirty="0"/>
              <a:t>Intermediate events/conditions </a:t>
            </a:r>
          </a:p>
          <a:p>
            <a:pPr lvl="1"/>
            <a:r>
              <a:rPr lang="en-US" dirty="0"/>
              <a:t>Basic or primary events/conditions </a:t>
            </a:r>
          </a:p>
          <a:p>
            <a:pPr lvl="1"/>
            <a:r>
              <a:rPr lang="en-US" dirty="0"/>
              <a:t>Logical connections </a:t>
            </a:r>
          </a:p>
          <a:p>
            <a:pPr lvl="1"/>
            <a:r>
              <a:rPr lang="en-US" dirty="0"/>
              <a:t>Form a tree structure </a:t>
            </a:r>
          </a:p>
          <a:p>
            <a:r>
              <a:rPr lang="en-US" dirty="0"/>
              <a:t>Elements of a fault tree: </a:t>
            </a:r>
          </a:p>
          <a:p>
            <a:pPr lvl="1"/>
            <a:r>
              <a:rPr lang="en-US" dirty="0"/>
              <a:t>Nodes: conditions and sub-conditions</a:t>
            </a:r>
          </a:p>
          <a:p>
            <a:pPr lvl="2"/>
            <a:r>
              <a:rPr lang="en-US" dirty="0"/>
              <a:t>Terminal vs. no terminal </a:t>
            </a:r>
          </a:p>
          <a:p>
            <a:pPr lvl="1"/>
            <a:r>
              <a:rPr lang="en-US" dirty="0"/>
              <a:t>Logical relations among sub-conditions</a:t>
            </a:r>
          </a:p>
          <a:p>
            <a:pPr lvl="2"/>
            <a:r>
              <a:rPr lang="en-US" dirty="0"/>
              <a:t>AND, OR, NOT </a:t>
            </a:r>
          </a:p>
          <a:p>
            <a:pPr lvl="1"/>
            <a:r>
              <a:rPr lang="en-US" dirty="0"/>
              <a:t>Other types/extensions possible</a:t>
            </a:r>
          </a:p>
        </p:txBody>
      </p:sp>
    </p:spTree>
    <p:extLst>
      <p:ext uri="{BB962C8B-B14F-4D97-AF65-F5344CB8AC3E}">
        <p14:creationId xmlns:p14="http://schemas.microsoft.com/office/powerpoint/2010/main" val="6426260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1C295-7DDC-FAD6-1DBE-CE5139A35B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95300" y="123825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Hazard Analysis: FTA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3E019F-2666-F372-E2C8-EF3CF7AEF6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"/>
          </p:nvPr>
        </p:nvSpPr>
        <p:spPr>
          <a:xfrm>
            <a:off x="495300" y="6164262"/>
            <a:ext cx="8458200" cy="609600"/>
          </a:xfrm>
        </p:spPr>
        <p:txBody>
          <a:bodyPr>
            <a:normAutofit/>
          </a:bodyPr>
          <a:lstStyle/>
          <a:p>
            <a:r>
              <a:rPr lang="en-US" sz="2400" dirty="0"/>
              <a:t>Example FTA for an automobile accident (Fig. 16.3, p.276)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305ED07-6E0C-0308-6C47-F7B0296AC6A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842491"/>
            <a:ext cx="4531402" cy="5173017"/>
          </a:xfrm>
        </p:spPr>
      </p:pic>
    </p:spTree>
    <p:extLst>
      <p:ext uri="{BB962C8B-B14F-4D97-AF65-F5344CB8AC3E}">
        <p14:creationId xmlns:p14="http://schemas.microsoft.com/office/powerpoint/2010/main" val="38685143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FE39E-EEAF-4EF7-E5B5-E0880E837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4" y="152400"/>
            <a:ext cx="8305800" cy="792162"/>
          </a:xfrm>
        </p:spPr>
        <p:txBody>
          <a:bodyPr>
            <a:normAutofit/>
          </a:bodyPr>
          <a:lstStyle/>
          <a:p>
            <a:r>
              <a:rPr lang="en-US" dirty="0"/>
              <a:t>Hazard Analysis: ETA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3AB2C6-7D4D-42CC-BB24-6DC2826FE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24" y="1049337"/>
            <a:ext cx="8372475" cy="58848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Even Tree Analysis (ETA): Why? </a:t>
            </a:r>
          </a:p>
          <a:p>
            <a:pPr lvl="1"/>
            <a:r>
              <a:rPr lang="en-US" dirty="0"/>
              <a:t>FTA: focus on static analysis</a:t>
            </a:r>
          </a:p>
          <a:p>
            <a:pPr lvl="2"/>
            <a:r>
              <a:rPr lang="en-US" dirty="0"/>
              <a:t>Logical conditions (static)</a:t>
            </a:r>
          </a:p>
          <a:p>
            <a:pPr lvl="1"/>
            <a:r>
              <a:rPr lang="en-US" dirty="0"/>
              <a:t>Dynamic aspect of accidents </a:t>
            </a:r>
          </a:p>
          <a:p>
            <a:pPr lvl="1"/>
            <a:r>
              <a:rPr lang="en-US" dirty="0"/>
              <a:t>Timing and temporal relations </a:t>
            </a:r>
          </a:p>
          <a:p>
            <a:pPr lvl="1"/>
            <a:r>
              <a:rPr lang="en-US" dirty="0"/>
              <a:t>Real-time control systems </a:t>
            </a:r>
          </a:p>
          <a:p>
            <a:r>
              <a:rPr lang="en-US" dirty="0"/>
              <a:t>Search space/strategy concerns: </a:t>
            </a:r>
          </a:p>
          <a:p>
            <a:pPr lvl="1"/>
            <a:r>
              <a:rPr lang="en-US" dirty="0"/>
              <a:t>Contrast ETA with FTA:</a:t>
            </a:r>
          </a:p>
          <a:p>
            <a:pPr lvl="2"/>
            <a:r>
              <a:rPr lang="en-US" dirty="0"/>
              <a:t>FTA: backward search</a:t>
            </a:r>
          </a:p>
          <a:p>
            <a:pPr lvl="2"/>
            <a:r>
              <a:rPr lang="en-US" dirty="0"/>
              <a:t>ETA: forward search </a:t>
            </a:r>
          </a:p>
          <a:p>
            <a:pPr lvl="1"/>
            <a:r>
              <a:rPr lang="en-US" dirty="0"/>
              <a:t>May yield different path/info. </a:t>
            </a:r>
          </a:p>
          <a:p>
            <a:pPr lvl="1"/>
            <a:r>
              <a:rPr lang="en-US" dirty="0"/>
              <a:t>ETA provide additional info.</a:t>
            </a:r>
          </a:p>
        </p:txBody>
      </p:sp>
    </p:spTree>
    <p:extLst>
      <p:ext uri="{BB962C8B-B14F-4D97-AF65-F5344CB8AC3E}">
        <p14:creationId xmlns:p14="http://schemas.microsoft.com/office/powerpoint/2010/main" val="6694915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042FE-21BF-0374-E037-F8A6B1FB03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57200" y="152400"/>
            <a:ext cx="8229600" cy="792162"/>
          </a:xfrm>
        </p:spPr>
        <p:txBody>
          <a:bodyPr/>
          <a:lstStyle/>
          <a:p>
            <a:r>
              <a:rPr lang="en-US" dirty="0"/>
              <a:t>Hazard Analysis: ETA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73E75-D594-8333-7BE4-460516786C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"/>
          </p:nvPr>
        </p:nvSpPr>
        <p:spPr>
          <a:xfrm>
            <a:off x="685800" y="5913437"/>
            <a:ext cx="7848600" cy="66992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Example ETA for an automobile accident (Fig 16.4, p.277)</a:t>
            </a:r>
          </a:p>
          <a:p>
            <a:r>
              <a:rPr lang="en-US" dirty="0"/>
              <a:t>Compare/contrast with FTA a few slides back.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356D778-DAAB-BD9B-E5A6-8A6A8F34583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156759"/>
            <a:ext cx="6986292" cy="4544481"/>
          </a:xfrm>
        </p:spPr>
      </p:pic>
    </p:spTree>
    <p:extLst>
      <p:ext uri="{BB962C8B-B14F-4D97-AF65-F5344CB8AC3E}">
        <p14:creationId xmlns:p14="http://schemas.microsoft.com/office/powerpoint/2010/main" val="14390891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95F6D99-3EEC-F49D-A837-687DDCA13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Hazard Analysis: SFTA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D86CA-DA69-0F6B-82B9-7C8D71846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SFTA: Software FTA </a:t>
            </a:r>
          </a:p>
          <a:p>
            <a:pPr lvl="1"/>
            <a:r>
              <a:rPr lang="en-US" dirty="0"/>
              <a:t>Same concept applied to software </a:t>
            </a:r>
          </a:p>
          <a:p>
            <a:pPr lvl="1"/>
            <a:r>
              <a:rPr lang="en-US" dirty="0"/>
              <a:t>Actual implementation (white-box) </a:t>
            </a:r>
          </a:p>
          <a:p>
            <a:pPr lvl="1"/>
            <a:r>
              <a:rPr lang="en-US" dirty="0"/>
              <a:t>Language elements (high-level):</a:t>
            </a:r>
          </a:p>
          <a:p>
            <a:pPr lvl="2"/>
            <a:r>
              <a:rPr lang="en-US" dirty="0"/>
              <a:t>Assignment and function calls</a:t>
            </a:r>
          </a:p>
          <a:p>
            <a:pPr lvl="2"/>
            <a:r>
              <a:rPr lang="en-US" dirty="0"/>
              <a:t>Branching statement, loops, etc. </a:t>
            </a:r>
          </a:p>
          <a:p>
            <a:pPr lvl="1"/>
            <a:r>
              <a:rPr lang="en-US" dirty="0"/>
              <a:t>It can also be used for specification/architecture</a:t>
            </a:r>
          </a:p>
          <a:p>
            <a:pPr lvl="2"/>
            <a:r>
              <a:rPr lang="en-US" dirty="0"/>
              <a:t>Black-box control flow diagram</a:t>
            </a:r>
          </a:p>
          <a:p>
            <a:pPr lvl="2"/>
            <a:r>
              <a:rPr lang="en-US" dirty="0"/>
              <a:t>Equivalent language representation </a:t>
            </a:r>
          </a:p>
          <a:p>
            <a:r>
              <a:rPr lang="en-US" dirty="0"/>
              <a:t>SFTA construction: </a:t>
            </a:r>
          </a:p>
          <a:p>
            <a:pPr lvl="1"/>
            <a:r>
              <a:rPr lang="en-US" dirty="0"/>
              <a:t>Templates/examples for diff. statements </a:t>
            </a:r>
          </a:p>
          <a:p>
            <a:pPr lvl="1"/>
            <a:r>
              <a:rPr lang="en-US" dirty="0" err="1"/>
              <a:t>Safeware</a:t>
            </a:r>
            <a:r>
              <a:rPr lang="en-US" dirty="0"/>
              <a:t> 18.2.2 (pp.497-507) </a:t>
            </a:r>
          </a:p>
          <a:p>
            <a:pPr lvl="2"/>
            <a:r>
              <a:rPr lang="en-US" dirty="0"/>
              <a:t>Additional work needed, especially for system design/architecture new work of STPA by Leveson</a:t>
            </a:r>
          </a:p>
        </p:txBody>
      </p:sp>
    </p:spTree>
    <p:extLst>
      <p:ext uri="{BB962C8B-B14F-4D97-AF65-F5344CB8AC3E}">
        <p14:creationId xmlns:p14="http://schemas.microsoft.com/office/powerpoint/2010/main" val="30572451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3C5EC4-055B-D051-F6C1-2214B70E4E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57200" y="762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Cause-Consequence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D736CC-B046-BCF1-02F6-29F72C9BA9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"/>
          </p:nvPr>
        </p:nvSpPr>
        <p:spPr>
          <a:xfrm>
            <a:off x="152401" y="1066800"/>
            <a:ext cx="4267200" cy="512531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Construct the Cause Tree</a:t>
            </a:r>
          </a:p>
          <a:p>
            <a:pPr lvl="1"/>
            <a:r>
              <a:rPr lang="en-US" dirty="0"/>
              <a:t>Work backwards from the critical event</a:t>
            </a:r>
          </a:p>
          <a:p>
            <a:pPr lvl="1"/>
            <a:r>
              <a:rPr lang="en-US" dirty="0"/>
              <a:t>Identifying primary, secondary, and root causes</a:t>
            </a:r>
          </a:p>
          <a:p>
            <a:pPr lvl="1"/>
            <a:r>
              <a:rPr lang="en-US" dirty="0"/>
              <a:t>Assign probabilities to basic events</a:t>
            </a:r>
          </a:p>
          <a:p>
            <a:r>
              <a:rPr lang="en-US" dirty="0"/>
              <a:t>Develop the Consequence Tree</a:t>
            </a:r>
          </a:p>
          <a:p>
            <a:pPr lvl="1"/>
            <a:r>
              <a:rPr lang="en-US" dirty="0"/>
              <a:t>Move forward from the critical event</a:t>
            </a:r>
          </a:p>
          <a:p>
            <a:pPr lvl="1"/>
            <a:r>
              <a:rPr lang="en-US" dirty="0"/>
              <a:t>Identify safety functions and barriers</a:t>
            </a:r>
          </a:p>
          <a:p>
            <a:pPr lvl="1"/>
            <a:r>
              <a:rPr lang="en-US" dirty="0"/>
              <a:t>Determine possible outcomes</a:t>
            </a:r>
          </a:p>
          <a:p>
            <a:r>
              <a:rPr lang="en-US" dirty="0"/>
              <a:t>Ref: </a:t>
            </a:r>
            <a:r>
              <a:rPr lang="en-US" dirty="0">
                <a:hlinkClick r:id="rId2"/>
              </a:rPr>
              <a:t>Jeremiah Genest - CCA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0AE9407-DC6E-9989-77EF-1DBC1621AC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075710"/>
            <a:ext cx="3962400" cy="5461132"/>
          </a:xfrm>
        </p:spPr>
      </p:pic>
    </p:spTree>
    <p:extLst>
      <p:ext uri="{BB962C8B-B14F-4D97-AF65-F5344CB8AC3E}">
        <p14:creationId xmlns:p14="http://schemas.microsoft.com/office/powerpoint/2010/main" val="17419471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E5628-8149-CAC9-1576-49C714157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Hazard Analysis: ETA &amp; CCA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FF82C-1665-BACD-34F3-D75DCE3BB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ETA alone: trace of accident. May desire explanation also (from FTA) </a:t>
            </a:r>
          </a:p>
          <a:p>
            <a:r>
              <a:rPr lang="en-US" dirty="0"/>
              <a:t>Cause-consequence diagram (CCA): </a:t>
            </a:r>
          </a:p>
          <a:p>
            <a:pPr lvl="1"/>
            <a:r>
              <a:rPr lang="en-US" dirty="0"/>
              <a:t>Combine ETA with FTA </a:t>
            </a:r>
          </a:p>
          <a:p>
            <a:pPr lvl="1"/>
            <a:r>
              <a:rPr lang="en-US" dirty="0"/>
              <a:t>Explaining decisions in ETA </a:t>
            </a:r>
          </a:p>
          <a:p>
            <a:r>
              <a:rPr lang="en-US" dirty="0"/>
              <a:t>Using ETA and CCA: </a:t>
            </a:r>
          </a:p>
          <a:p>
            <a:pPr lvl="1"/>
            <a:r>
              <a:rPr lang="en-US" dirty="0"/>
              <a:t>Partial vs. total ETA </a:t>
            </a:r>
          </a:p>
          <a:p>
            <a:pPr lvl="1"/>
            <a:r>
              <a:rPr lang="en-US" dirty="0"/>
              <a:t>Focus on main consequences </a:t>
            </a:r>
          </a:p>
          <a:p>
            <a:pPr lvl="1"/>
            <a:r>
              <a:rPr lang="en-US" dirty="0"/>
              <a:t>Details: “</a:t>
            </a:r>
            <a:r>
              <a:rPr lang="en-US" dirty="0" err="1"/>
              <a:t>Safeware</a:t>
            </a:r>
            <a:r>
              <a:rPr lang="en-US" dirty="0"/>
              <a:t>” 14.5-14.6 (pp.327-pp.335)</a:t>
            </a:r>
          </a:p>
        </p:txBody>
      </p:sp>
    </p:spTree>
    <p:extLst>
      <p:ext uri="{BB962C8B-B14F-4D97-AF65-F5344CB8AC3E}">
        <p14:creationId xmlns:p14="http://schemas.microsoft.com/office/powerpoint/2010/main" val="259867094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35946-DD75-9E23-A173-B8AACEAAC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305800" cy="792162"/>
          </a:xfrm>
        </p:spPr>
        <p:txBody>
          <a:bodyPr/>
          <a:lstStyle/>
          <a:p>
            <a:r>
              <a:rPr lang="en-US" dirty="0"/>
              <a:t>Hazard Analyses: FMEA &amp; FMECA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B4E17-FC18-7164-E9A9-407ECBA13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75518"/>
            <a:ext cx="8534400" cy="5882482"/>
          </a:xfrm>
        </p:spPr>
        <p:txBody>
          <a:bodyPr>
            <a:normAutofit fontScale="92500"/>
          </a:bodyPr>
          <a:lstStyle/>
          <a:p>
            <a:r>
              <a:rPr lang="en-US" dirty="0"/>
              <a:t>Failure modes and effect analysis (FMEA) </a:t>
            </a:r>
          </a:p>
          <a:p>
            <a:pPr lvl="1"/>
            <a:r>
              <a:rPr lang="en-US" dirty="0"/>
              <a:t>Reverse of FTA </a:t>
            </a:r>
          </a:p>
          <a:p>
            <a:pPr lvl="1"/>
            <a:r>
              <a:rPr lang="en-US" dirty="0"/>
              <a:t>Some similarity to OP </a:t>
            </a:r>
          </a:p>
          <a:p>
            <a:pPr lvl="1"/>
            <a:r>
              <a:rPr lang="en-US" dirty="0"/>
              <a:t>Focus on logical conditions </a:t>
            </a:r>
          </a:p>
          <a:p>
            <a:pPr lvl="1"/>
            <a:r>
              <a:rPr lang="en-US" dirty="0"/>
              <a:t>Typically include environmental variables, operational scenarios, etc. </a:t>
            </a:r>
          </a:p>
          <a:p>
            <a:r>
              <a:rPr lang="en-US" dirty="0"/>
              <a:t>FMEA relation to other Hazard Analysis techniques </a:t>
            </a:r>
          </a:p>
          <a:p>
            <a:pPr lvl="1"/>
            <a:r>
              <a:rPr lang="en-US" dirty="0"/>
              <a:t>Similar to ETA, but not focusing on time nor sequence </a:t>
            </a:r>
          </a:p>
          <a:p>
            <a:pPr lvl="1"/>
            <a:r>
              <a:rPr lang="en-US" dirty="0"/>
              <a:t>FMECA (FMEA + Criticality), etc. </a:t>
            </a:r>
          </a:p>
          <a:p>
            <a:pPr lvl="1"/>
            <a:r>
              <a:rPr lang="en-US" dirty="0"/>
              <a:t>Root in traditional (hardware) reliability engineering </a:t>
            </a:r>
          </a:p>
          <a:p>
            <a:pPr lvl="1"/>
            <a:r>
              <a:rPr lang="en-US" dirty="0"/>
              <a:t>Less so because of the dynamic/variable nature of software executions</a:t>
            </a:r>
          </a:p>
        </p:txBody>
      </p:sp>
    </p:spTree>
    <p:extLst>
      <p:ext uri="{BB962C8B-B14F-4D97-AF65-F5344CB8AC3E}">
        <p14:creationId xmlns:p14="http://schemas.microsoft.com/office/powerpoint/2010/main" val="1461910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63939</TotalTime>
  <Words>3008</Words>
  <Application>Microsoft Office PowerPoint</Application>
  <PresentationFormat>On-screen Show (4:3)</PresentationFormat>
  <Paragraphs>562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9" baseType="lpstr">
      <vt:lpstr>-apple-system</vt:lpstr>
      <vt:lpstr>Aptos</vt:lpstr>
      <vt:lpstr>Arial</vt:lpstr>
      <vt:lpstr>Calibri</vt:lpstr>
      <vt:lpstr>Cambria Math</vt:lpstr>
      <vt:lpstr>Times New Roman</vt:lpstr>
      <vt:lpstr>Wingdings</vt:lpstr>
      <vt:lpstr>Office Theme</vt:lpstr>
      <vt:lpstr>Software Reliability and Safety   CS 8317 – Spring 2026</vt:lpstr>
      <vt:lpstr>Agenda</vt:lpstr>
      <vt:lpstr>Overview</vt:lpstr>
      <vt:lpstr>Product Environment</vt:lpstr>
      <vt:lpstr>Testing Environment</vt:lpstr>
      <vt:lpstr>Needs and Constraints</vt:lpstr>
      <vt:lpstr>Overall Solution</vt:lpstr>
      <vt:lpstr>Solution: Coverage &amp; Scope</vt:lpstr>
      <vt:lpstr>Data: UBST &amp; Data</vt:lpstr>
      <vt:lpstr>Software Reliability Growth Model</vt:lpstr>
      <vt:lpstr>Experience: SRGMs</vt:lpstr>
      <vt:lpstr>Experience: SRGMs</vt:lpstr>
      <vt:lpstr>Experience: SRGMs</vt:lpstr>
      <vt:lpstr>Experience: SRGMs</vt:lpstr>
      <vt:lpstr>Experience: SRGMs</vt:lpstr>
      <vt:lpstr>Experience: SRGMs</vt:lpstr>
      <vt:lpstr>Experience: SRGMs</vt:lpstr>
      <vt:lpstr>Experience: SRGMs</vt:lpstr>
      <vt:lpstr>Experience: SRGMs</vt:lpstr>
      <vt:lpstr>Experience: SRGMs</vt:lpstr>
      <vt:lpstr>Experience: SRGMs</vt:lpstr>
      <vt:lpstr>Experience: SRGMs</vt:lpstr>
      <vt:lpstr>Operational Reliability Assessment</vt:lpstr>
      <vt:lpstr>Operational Reliability Assessment</vt:lpstr>
      <vt:lpstr>Other: Trend Test</vt:lpstr>
      <vt:lpstr>Other: Trend Test</vt:lpstr>
      <vt:lpstr>Experience: SRGM Conclusions</vt:lpstr>
      <vt:lpstr>Assessing Existing Approaches</vt:lpstr>
      <vt:lpstr>An Integrated Approach</vt:lpstr>
      <vt:lpstr>TBM: Technique for Integration</vt:lpstr>
      <vt:lpstr>TBRM Simple Example</vt:lpstr>
      <vt:lpstr>TBRM Simple Example</vt:lpstr>
      <vt:lpstr>TBRM Simple Example</vt:lpstr>
      <vt:lpstr>TBRM Example</vt:lpstr>
      <vt:lpstr>TBRM in Integrated Analysis</vt:lpstr>
      <vt:lpstr>Using Integrated Analysis</vt:lpstr>
      <vt:lpstr>TBRMs in Integrated Analysis</vt:lpstr>
      <vt:lpstr>TBRMs at Different Times</vt:lpstr>
      <vt:lpstr>TBRMs at Different Times</vt:lpstr>
      <vt:lpstr>Cross Validation</vt:lpstr>
      <vt:lpstr>TBRM Result Comparison</vt:lpstr>
      <vt:lpstr>TBRM Result Comparison</vt:lpstr>
      <vt:lpstr>Integrated Approach: Implementation</vt:lpstr>
      <vt:lpstr>Integrated Approach: Implementation</vt:lpstr>
      <vt:lpstr>Integrated Approach: Implementation</vt:lpstr>
      <vt:lpstr>Implementation Support</vt:lpstr>
      <vt:lpstr>Application Summary</vt:lpstr>
      <vt:lpstr>Future Directions</vt:lpstr>
      <vt:lpstr>Hazard Analysis (HA) Agenda</vt:lpstr>
      <vt:lpstr>Safety Techniques</vt:lpstr>
      <vt:lpstr>Safety Techniques in Process</vt:lpstr>
      <vt:lpstr>Hazard Analysis: Types/Levels/Scope</vt:lpstr>
      <vt:lpstr>Hazard Analyses: Techniques</vt:lpstr>
      <vt:lpstr>Hazard Analysis: FTA</vt:lpstr>
      <vt:lpstr>Hazard Analysis: FTA Example</vt:lpstr>
      <vt:lpstr>Hazard Analysis: ETA</vt:lpstr>
      <vt:lpstr>Hazard Analysis: ETA Example</vt:lpstr>
      <vt:lpstr>Hazard Analysis: SFTA</vt:lpstr>
      <vt:lpstr>Cause-Consequence Analysis</vt:lpstr>
      <vt:lpstr>Hazard Analysis: ETA &amp; CCA</vt:lpstr>
      <vt:lpstr>Hazard Analyses: FMEA &amp; FMECA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Abuta</dc:creator>
  <cp:lastModifiedBy>eric abuta</cp:lastModifiedBy>
  <cp:revision>242</cp:revision>
  <dcterms:created xsi:type="dcterms:W3CDTF">2006-08-16T00:00:00Z</dcterms:created>
  <dcterms:modified xsi:type="dcterms:W3CDTF">2026-01-22T19:44:12Z</dcterms:modified>
</cp:coreProperties>
</file>